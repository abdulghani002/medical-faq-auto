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200" b="1">
                <a:solidFill>
                  <a:srgbClr val="1C1717"/>
                </a:solidFill>
              </a:rPr>
              <a:t>MedFAQ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0">
                <a:solidFill>
                  <a:srgbClr val="1C1717"/>
                </a:solidFill>
              </a:rPr>
              <a:t>Auto-Generated Medical FAQ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78716C"/>
                </a:solidFill>
              </a:rPr>
              <a:t>Retrieval-only chatbot · no LLM · every model built from scratch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1C1717"/>
                </a:solidFill>
              </a:rPr>
              <a:t>Abdul Ghani · Anas Bhatti · Muhammad Salman · </a:t>
            </a:r>
            <a:r>
              <a:rPr lang="en-US" sz="1400" dirty="0">
                <a:solidFill>
                  <a:srgbClr val="1C1717"/>
                </a:solidFill>
              </a:rPr>
              <a:t>Raja Mahad</a:t>
            </a:r>
            <a:endParaRPr sz="1400" b="0" dirty="0">
              <a:solidFill>
                <a:srgbClr val="1C171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544068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78716C"/>
                </a:solidFill>
              </a:rPr>
              <a:t>NUTECH · 6th semester · github.com/AbdulGhani002/medical-faq-auto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C1717"/>
                </a:solidFill>
              </a:rPr>
              <a:t>Scope and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78716C"/>
                </a:solidFill>
              </a:rPr>
              <a:t>Problem · Patients ask the same questions every week.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C1717"/>
                </a:solidFill>
              </a:rPr>
              <a:t>•  Goal</a:t>
            </a:r>
            <a:r>
              <a:rPr sz="2000" dirty="0">
                <a:solidFill>
                  <a:srgbClr val="78716C"/>
                </a:solidFill>
              </a:rPr>
              <a:t> Retrieval chatbot that answers from an approved, clinician-reviewed FAQ index across three specialties.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Specialties</a:t>
            </a:r>
            <a:r>
              <a:rPr sz="2000" dirty="0">
                <a:solidFill>
                  <a:srgbClr val="78716C"/>
                </a:solidFill>
              </a:rPr>
              <a:t> Radiology · Physiotherapy · Cardiovascular.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Honesty</a:t>
            </a:r>
            <a:r>
              <a:rPr sz="2000" dirty="0">
                <a:solidFill>
                  <a:srgbClr val="78716C"/>
                </a:solidFill>
              </a:rPr>
              <a:t> Every reply is a real, human-written FAQ entry. No hallucination.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Hard constraint</a:t>
            </a:r>
            <a:r>
              <a:rPr sz="2000" dirty="0">
                <a:solidFill>
                  <a:srgbClr val="78716C"/>
                </a:solidFill>
              </a:rPr>
              <a:t> No LLM. No pretrained transformer. No sentence-transformers downloaded.</a:t>
            </a:r>
            <a:endParaRPr lang="en-US" sz="2000" dirty="0">
              <a:solidFill>
                <a:srgbClr val="78716C"/>
              </a:solidFill>
            </a:endParaRP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Deploy</a:t>
            </a:r>
            <a:r>
              <a:rPr sz="2000" dirty="0">
                <a:solidFill>
                  <a:srgbClr val="78716C"/>
                </a:solidFill>
              </a:rPr>
              <a:t> Single `docker compose up` brings web + </a:t>
            </a:r>
            <a:r>
              <a:rPr sz="2000" dirty="0" err="1">
                <a:solidFill>
                  <a:srgbClr val="78716C"/>
                </a:solidFill>
              </a:rPr>
              <a:t>api</a:t>
            </a:r>
            <a:r>
              <a:rPr sz="2000" dirty="0">
                <a:solidFill>
                  <a:srgbClr val="78716C"/>
                </a:solidFill>
              </a:rPr>
              <a:t> + mongo live.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Pakistan context</a:t>
            </a:r>
            <a:r>
              <a:rPr sz="2000" dirty="0">
                <a:solidFill>
                  <a:srgbClr val="78716C"/>
                </a:solidFill>
              </a:rPr>
              <a:t> Roman-Urdu phonetic input · 1122 emergency banner · PHI scrub.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C1717"/>
                </a:solidFill>
              </a:rPr>
              <a:t>Runtime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78716C"/>
                </a:solidFill>
              </a:rPr>
              <a:t>Each user turn flows top-to-bottom in ~22 ms p50.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C1717"/>
                </a:solidFill>
              </a:rPr>
              <a:t>•  Preprocess</a:t>
            </a:r>
            <a:r>
              <a:rPr sz="2000" dirty="0">
                <a:solidFill>
                  <a:srgbClr val="78716C"/>
                </a:solidFill>
              </a:rPr>
              <a:t>  PHI scrub → Roman-Urdu expand → coreference → context augment → spell-correct.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Understanding</a:t>
            </a:r>
            <a:r>
              <a:rPr sz="2000" dirty="0">
                <a:solidFill>
                  <a:srgbClr val="78716C"/>
                </a:solidFill>
              </a:rPr>
              <a:t> </a:t>
            </a:r>
            <a:r>
              <a:rPr sz="2000" dirty="0" err="1">
                <a:solidFill>
                  <a:srgbClr val="78716C"/>
                </a:solidFill>
              </a:rPr>
              <a:t>Tokeniser</a:t>
            </a:r>
            <a:r>
              <a:rPr sz="2000" dirty="0">
                <a:solidFill>
                  <a:srgbClr val="78716C"/>
                </a:solidFill>
              </a:rPr>
              <a:t> · POS (lexicon + HMM) · NER (</a:t>
            </a:r>
            <a:r>
              <a:rPr sz="2000" dirty="0" err="1">
                <a:solidFill>
                  <a:srgbClr val="78716C"/>
                </a:solidFill>
              </a:rPr>
              <a:t>dict</a:t>
            </a:r>
            <a:r>
              <a:rPr sz="2000" dirty="0">
                <a:solidFill>
                  <a:srgbClr val="78716C"/>
                </a:solidFill>
              </a:rPr>
              <a:t> + perceptron + CRF) · negation · sentiment · triage · intent (NB / MLP / Transformer).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Retrieve (5 channels)</a:t>
            </a:r>
            <a:r>
              <a:rPr sz="2000" dirty="0">
                <a:solidFill>
                  <a:srgbClr val="78716C"/>
                </a:solidFill>
              </a:rPr>
              <a:t> TF-IDF word 0.20 · TF-IDF char 0.45 · BM25 0.25 · LSA 0.05 · PPMI 0.05.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</a:t>
            </a:r>
            <a:r>
              <a:rPr sz="2000" b="1" dirty="0" err="1">
                <a:solidFill>
                  <a:srgbClr val="1C1717"/>
                </a:solidFill>
              </a:rPr>
              <a:t>Rerank</a:t>
            </a:r>
            <a:r>
              <a:rPr sz="2000" dirty="0">
                <a:solidFill>
                  <a:srgbClr val="78716C"/>
                </a:solidFill>
              </a:rPr>
              <a:t> PRF (Rocchio) → LTR (</a:t>
            </a:r>
            <a:r>
              <a:rPr sz="2000" dirty="0" err="1">
                <a:solidFill>
                  <a:srgbClr val="78716C"/>
                </a:solidFill>
              </a:rPr>
              <a:t>LogReg</a:t>
            </a:r>
            <a:r>
              <a:rPr sz="2000" dirty="0">
                <a:solidFill>
                  <a:srgbClr val="78716C"/>
                </a:solidFill>
              </a:rPr>
              <a:t>, 14 features) → MMR diversify.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Dialog</a:t>
            </a:r>
            <a:r>
              <a:rPr sz="2000" dirty="0">
                <a:solidFill>
                  <a:srgbClr val="78716C"/>
                </a:solidFill>
              </a:rPr>
              <a:t> Empathic opener · triage banner · clarification · disambiguation card · stem-overlap highlight.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Reply</a:t>
            </a:r>
            <a:r>
              <a:rPr sz="2000" dirty="0">
                <a:solidFill>
                  <a:srgbClr val="78716C"/>
                </a:solidFill>
              </a:rPr>
              <a:t> answer + matched FAQ + score breakdown + NLP analysis + dialog meta.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Offline pipeline</a:t>
            </a:r>
            <a:r>
              <a:rPr sz="2000" dirty="0">
                <a:solidFill>
                  <a:srgbClr val="78716C"/>
                </a:solidFill>
              </a:rPr>
              <a:t> Chat-log → segment → </a:t>
            </a:r>
            <a:r>
              <a:rPr sz="2000" dirty="0" err="1">
                <a:solidFill>
                  <a:srgbClr val="78716C"/>
                </a:solidFill>
              </a:rPr>
              <a:t>normalise</a:t>
            </a:r>
            <a:r>
              <a:rPr sz="2000" dirty="0">
                <a:solidFill>
                  <a:srgbClr val="78716C"/>
                </a:solidFill>
              </a:rPr>
              <a:t> → embed (TF-IDF) → cluster (K-Means) → select → polish → publish.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C1717"/>
                </a:solidFill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78716C"/>
                </a:solidFill>
              </a:rPr>
              <a:t>All data lives in `data/*.jsonl`. Regenerated by `data/build_jsonl.py`.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175578"/>
              </p:ext>
            </p:extLst>
          </p:nvPr>
        </p:nvGraphicFramePr>
        <p:xfrm>
          <a:off x="457200" y="1735328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C1717"/>
                          </a:solidFill>
                        </a:rPr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1717"/>
                          </a:solidFill>
                        </a:rPr>
                        <a:t>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1717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C1717"/>
                          </a:solidFill>
                        </a:rPr>
                        <a:t>faqs.jsonl</a:t>
                      </a:r>
                      <a:endParaRPr sz="1400" dirty="0">
                        <a:solidFill>
                          <a:srgbClr val="1C1717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Hand-written clinician-style FAQs (3 specialties)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intents.jsonl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Curated intent training, 13 classes incl. meta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intents_augmented.jsonl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1206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6-way augmentation: synonyms / typos / prefixes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eval_queries.jsonl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Held-out queries with expected keywords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ner_examples.jsonl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BIO-tagged for CRF training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sentiment_lexicon.jsonl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Polarity weights + intensifiers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chat_logs.jsonl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Synthetic patient sessions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kg_triples.jsonl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1717"/>
                          </a:solidFill>
                        </a:rPr>
                        <a:t>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C1717"/>
                          </a:solidFill>
                        </a:rPr>
                        <a:t>Auto-mined (subject, predicate, object) triples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78716C"/>
                </a:solidFill>
              </a:rPr>
              <a:t>Counts persist live in MongoDB on every chat match → popular FAQs surface to the 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C1717"/>
                </a:solidFill>
              </a:rPr>
              <a:t>Models — every one trained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C1717"/>
                </a:solidFill>
              </a:rPr>
              <a:t>Classical numpy (myml/)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4864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1717"/>
                </a:solidFill>
              </a:rPr>
              <a:t>•  TF-IDF</a:t>
            </a:r>
            <a:r>
              <a:rPr sz="2000">
                <a:solidFill>
                  <a:srgbClr val="78716C"/>
                </a:solidFill>
              </a:rPr>
              <a:t>  — word + char n-grams, sublinear TF</a:t>
            </a:r>
          </a:p>
          <a:p>
            <a:pPr algn="l"/>
            <a:r>
              <a:rPr sz="2000" b="1">
                <a:solidFill>
                  <a:srgbClr val="1C1717"/>
                </a:solidFill>
              </a:rPr>
              <a:t>•  BM25 Okapi</a:t>
            </a:r>
            <a:r>
              <a:rPr sz="2000">
                <a:solidFill>
                  <a:srgbClr val="78716C"/>
                </a:solidFill>
              </a:rPr>
              <a:t>  — Lucene-style smoothed IDF</a:t>
            </a:r>
          </a:p>
          <a:p>
            <a:pPr algn="l"/>
            <a:r>
              <a:rPr sz="2000" b="1">
                <a:solidFill>
                  <a:srgbClr val="1C1717"/>
                </a:solidFill>
              </a:rPr>
              <a:t>•  Naive Bayes</a:t>
            </a:r>
            <a:r>
              <a:rPr sz="2000">
                <a:solidFill>
                  <a:srgbClr val="78716C"/>
                </a:solidFill>
              </a:rPr>
              <a:t>  — Laplace smoothing</a:t>
            </a:r>
          </a:p>
          <a:p>
            <a:pPr algn="l"/>
            <a:r>
              <a:rPr sz="2000" b="1">
                <a:solidFill>
                  <a:srgbClr val="1C1717"/>
                </a:solidFill>
              </a:rPr>
              <a:t>•  Logistic Reg.</a:t>
            </a:r>
            <a:r>
              <a:rPr sz="2000">
                <a:solidFill>
                  <a:srgbClr val="78716C"/>
                </a:solidFill>
              </a:rPr>
              <a:t>  — batch GD + L2 + class weights</a:t>
            </a:r>
          </a:p>
          <a:p>
            <a:pPr algn="l"/>
            <a:r>
              <a:rPr sz="2000" b="1">
                <a:solidFill>
                  <a:srgbClr val="1C1717"/>
                </a:solidFill>
              </a:rPr>
              <a:t>•  Randomised SVD</a:t>
            </a:r>
            <a:r>
              <a:rPr sz="2000">
                <a:solidFill>
                  <a:srgbClr val="78716C"/>
                </a:solidFill>
              </a:rPr>
              <a:t>  — Halko-Martinsson-Tropp 2011</a:t>
            </a:r>
          </a:p>
          <a:p>
            <a:pPr algn="l"/>
            <a:r>
              <a:rPr sz="2000" b="1">
                <a:solidFill>
                  <a:srgbClr val="1C1717"/>
                </a:solidFill>
              </a:rPr>
              <a:t>•  K-Means</a:t>
            </a:r>
            <a:r>
              <a:rPr sz="2000">
                <a:solidFill>
                  <a:srgbClr val="78716C"/>
                </a:solidFill>
              </a:rPr>
              <a:t>  — k-means++ init</a:t>
            </a:r>
          </a:p>
          <a:p>
            <a:pPr algn="l"/>
            <a:r>
              <a:rPr sz="2000" b="1">
                <a:solidFill>
                  <a:srgbClr val="1C1717"/>
                </a:solidFill>
              </a:rPr>
              <a:t>•  MLP + backprop</a:t>
            </a:r>
            <a:r>
              <a:rPr sz="2000">
                <a:solidFill>
                  <a:srgbClr val="78716C"/>
                </a:solidFill>
              </a:rPr>
              <a:t>  — ReLU/softmax, momentum SGD</a:t>
            </a:r>
          </a:p>
          <a:p>
            <a:pPr algn="l"/>
            <a:r>
              <a:rPr sz="2000" b="1">
                <a:solidFill>
                  <a:srgbClr val="1C1717"/>
                </a:solidFill>
              </a:rPr>
              <a:t>•  CRF</a:t>
            </a:r>
            <a:r>
              <a:rPr sz="2000">
                <a:solidFill>
                  <a:srgbClr val="78716C"/>
                </a:solidFill>
              </a:rPr>
              <a:t>  — forward-backward + Viterbi</a:t>
            </a:r>
          </a:p>
          <a:p>
            <a:pPr algn="l"/>
            <a:r>
              <a:rPr sz="2000" b="1">
                <a:solidFill>
                  <a:srgbClr val="1C1717"/>
                </a:solidFill>
              </a:rPr>
              <a:t>•  Word2Vec</a:t>
            </a:r>
            <a:r>
              <a:rPr sz="2000">
                <a:solidFill>
                  <a:srgbClr val="78716C"/>
                </a:solidFill>
              </a:rPr>
              <a:t>  — skip-gram + neg sampling</a:t>
            </a:r>
          </a:p>
          <a:p>
            <a:pPr algn="l"/>
            <a:r>
              <a:rPr sz="2000" b="1">
                <a:solidFill>
                  <a:srgbClr val="1C1717"/>
                </a:solidFill>
              </a:rPr>
              <a:t>•  Dual encoder</a:t>
            </a:r>
            <a:r>
              <a:rPr sz="2000">
                <a:solidFill>
                  <a:srgbClr val="78716C"/>
                </a:solidFill>
              </a:rPr>
              <a:t>  — InfoNCE bi-encoder</a:t>
            </a:r>
          </a:p>
          <a:p>
            <a:pPr algn="l"/>
            <a:r>
              <a:rPr sz="2000" b="1">
                <a:solidFill>
                  <a:srgbClr val="1C1717"/>
                </a:solidFill>
              </a:rPr>
              <a:t>•  BPE tokenizer</a:t>
            </a:r>
            <a:r>
              <a:rPr sz="2000">
                <a:solidFill>
                  <a:srgbClr val="78716C"/>
                </a:solidFill>
              </a:rPr>
              <a:t>  — Sennrich 2016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C1717"/>
                </a:solidFill>
              </a:rPr>
              <a:t>Trainable transformer (PyTorch, GPU)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63040"/>
            <a:ext cx="54864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1717"/>
                </a:solidFill>
              </a:rPr>
              <a:t>•  Backend</a:t>
            </a:r>
            <a:r>
              <a:rPr sz="2000">
                <a:solidFill>
                  <a:srgbClr val="78716C"/>
                </a:solidFill>
              </a:rPr>
              <a:t>  — PyTorch tensors + autograd only</a:t>
            </a:r>
          </a:p>
          <a:p>
            <a:pPr algn="l"/>
            <a:r>
              <a:rPr sz="2000" b="1">
                <a:solidFill>
                  <a:srgbClr val="1C1717"/>
                </a:solidFill>
              </a:rPr>
              <a:t>•  No pretrained weights</a:t>
            </a:r>
            <a:r>
              <a:rPr sz="2000">
                <a:solidFill>
                  <a:srgbClr val="78716C"/>
                </a:solidFill>
              </a:rPr>
              <a:t>  — every layer written by us</a:t>
            </a:r>
          </a:p>
          <a:p>
            <a:pPr algn="l"/>
            <a:r>
              <a:rPr sz="2000" b="1">
                <a:solidFill>
                  <a:srgbClr val="1C1717"/>
                </a:solidFill>
              </a:rPr>
              <a:t>•  Arch.</a:t>
            </a:r>
            <a:r>
              <a:rPr sz="2000">
                <a:solidFill>
                  <a:srgbClr val="78716C"/>
                </a:solidFill>
              </a:rPr>
              <a:t>  — 2 encoder blocks · 4 heads · d=64 · d_ff=128</a:t>
            </a:r>
          </a:p>
          <a:p>
            <a:pPr algn="l"/>
            <a:r>
              <a:rPr sz="2000" b="1">
                <a:solidFill>
                  <a:srgbClr val="1C1717"/>
                </a:solidFill>
              </a:rPr>
              <a:t>•  Embedding</a:t>
            </a:r>
            <a:r>
              <a:rPr sz="2000">
                <a:solidFill>
                  <a:srgbClr val="78716C"/>
                </a:solidFill>
              </a:rPr>
              <a:t>  — vocab-id → 64-d + sinusoidal pos enc</a:t>
            </a:r>
          </a:p>
          <a:p>
            <a:pPr algn="l"/>
            <a:r>
              <a:rPr sz="2000" b="1">
                <a:solidFill>
                  <a:srgbClr val="1C1717"/>
                </a:solidFill>
              </a:rPr>
              <a:t>•  Attention</a:t>
            </a:r>
            <a:r>
              <a:rPr sz="2000">
                <a:solidFill>
                  <a:srgbClr val="78716C"/>
                </a:solidFill>
              </a:rPr>
              <a:t>  — scaled dot-product · multi-head · pre-LN</a:t>
            </a:r>
          </a:p>
          <a:p>
            <a:pPr algn="l"/>
            <a:r>
              <a:rPr sz="2000" b="1">
                <a:solidFill>
                  <a:srgbClr val="1C1717"/>
                </a:solidFill>
              </a:rPr>
              <a:t>•  Pool / head</a:t>
            </a:r>
            <a:r>
              <a:rPr sz="2000">
                <a:solidFill>
                  <a:srgbClr val="78716C"/>
                </a:solidFill>
              </a:rPr>
              <a:t>  — masked mean-pool → softmax(13 classes)</a:t>
            </a:r>
          </a:p>
          <a:p>
            <a:pPr algn="l"/>
            <a:r>
              <a:rPr sz="2000" b="1">
                <a:solidFill>
                  <a:srgbClr val="1C1717"/>
                </a:solidFill>
              </a:rPr>
              <a:t>•  Training data</a:t>
            </a:r>
            <a:r>
              <a:rPr sz="2000">
                <a:solidFill>
                  <a:srgbClr val="78716C"/>
                </a:solidFill>
              </a:rPr>
              <a:t>  — 1206 augmented intent examples</a:t>
            </a:r>
          </a:p>
          <a:p>
            <a:pPr algn="l"/>
            <a:r>
              <a:rPr sz="2000" b="1">
                <a:solidFill>
                  <a:srgbClr val="1C1717"/>
                </a:solidFill>
              </a:rPr>
              <a:t>•  Optimiser</a:t>
            </a:r>
            <a:r>
              <a:rPr sz="2000">
                <a:solidFill>
                  <a:srgbClr val="78716C"/>
                </a:solidFill>
              </a:rPr>
              <a:t>  — AdamW + cosine LR + grad clip</a:t>
            </a:r>
          </a:p>
          <a:p>
            <a:pPr algn="l"/>
            <a:r>
              <a:rPr sz="2000" b="1">
                <a:solidFill>
                  <a:srgbClr val="1C1717"/>
                </a:solidFill>
              </a:rPr>
              <a:t>•  Hardware</a:t>
            </a:r>
            <a:r>
              <a:rPr sz="2000">
                <a:solidFill>
                  <a:srgbClr val="78716C"/>
                </a:solidFill>
              </a:rPr>
              <a:t>  — Auto-detects CUDA; CPU fallback</a:t>
            </a:r>
          </a:p>
          <a:p>
            <a:pPr algn="l"/>
            <a:r>
              <a:rPr sz="2000" b="1">
                <a:solidFill>
                  <a:srgbClr val="1C1717"/>
                </a:solidFill>
              </a:rPr>
              <a:t>•  Result</a:t>
            </a:r>
            <a:r>
              <a:rPr sz="2000">
                <a:solidFill>
                  <a:srgbClr val="78716C"/>
                </a:solidFill>
              </a:rPr>
              <a:t>  — train acc 1.000, loss 0.0003</a:t>
            </a:r>
          </a:p>
          <a:p>
            <a:pPr algn="l"/>
            <a:r>
              <a:rPr sz="2000" b="1">
                <a:solidFill>
                  <a:srgbClr val="1C1717"/>
                </a:solidFill>
              </a:rPr>
              <a:t>•  Endpoint</a:t>
            </a:r>
            <a:r>
              <a:rPr sz="2000">
                <a:solidFill>
                  <a:srgbClr val="78716C"/>
                </a:solidFill>
              </a:rPr>
              <a:t>  — POST /nlp/torch_intent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C1717"/>
                </a:solidFill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78716C"/>
                </a:solidFill>
              </a:rPr>
              <a:t>Retrieval evaluated on 116 held-out queries; transformer on training accuracy.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498319"/>
              </p:ext>
            </p:extLst>
          </p:nvPr>
        </p:nvGraphicFramePr>
        <p:xfrm>
          <a:off x="457200" y="1783080"/>
          <a:ext cx="3657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1C1717"/>
                          </a:solidFill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C1717"/>
                          </a:solidFill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C1717"/>
                          </a:solidFill>
                        </a:rPr>
                        <a:t>Precision@1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C1717"/>
                          </a:solidFill>
                        </a:rPr>
                        <a:t>0.931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C1717"/>
                          </a:solidFill>
                        </a:rPr>
                        <a:t>MRR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C1717"/>
                          </a:solidFill>
                        </a:rPr>
                        <a:t>0.938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C1717"/>
                          </a:solidFill>
                        </a:rPr>
                        <a:t>Recall@5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C1717"/>
                          </a:solidFill>
                        </a:rPr>
                        <a:t>0.948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C1717"/>
                          </a:solidFill>
                        </a:rPr>
                        <a:t>Median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C1717"/>
                          </a:solidFill>
                        </a:rPr>
                        <a:t>22 </a:t>
                      </a:r>
                      <a:r>
                        <a:rPr sz="1800" dirty="0" err="1">
                          <a:solidFill>
                            <a:srgbClr val="1C1717"/>
                          </a:solidFill>
                        </a:rPr>
                        <a:t>ms</a:t>
                      </a:r>
                      <a:endParaRPr sz="1800" dirty="0">
                        <a:solidFill>
                          <a:srgbClr val="1C1717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C1717"/>
                          </a:solidFill>
                        </a:rPr>
                        <a:t>p95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C1717"/>
                          </a:solidFill>
                        </a:rPr>
                        <a:t>47 </a:t>
                      </a:r>
                      <a:r>
                        <a:rPr sz="1800" dirty="0" err="1">
                          <a:solidFill>
                            <a:srgbClr val="1C1717"/>
                          </a:solidFill>
                        </a:rPr>
                        <a:t>ms</a:t>
                      </a:r>
                      <a:endParaRPr sz="1800" dirty="0">
                        <a:solidFill>
                          <a:srgbClr val="1C1717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839755"/>
              </p:ext>
            </p:extLst>
          </p:nvPr>
        </p:nvGraphicFramePr>
        <p:xfrm>
          <a:off x="4480560" y="1783080"/>
          <a:ext cx="7315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1C1717"/>
                          </a:solidFill>
                        </a:rPr>
                        <a:t>Specialty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C1717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C1717"/>
                          </a:solidFill>
                        </a:rPr>
                        <a:t>P@1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C1717"/>
                          </a:solidFill>
                        </a:rPr>
                        <a:t>Recall@5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C1717"/>
                          </a:solidFill>
                        </a:rPr>
                        <a:t>MRR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C1717"/>
                          </a:solidFill>
                        </a:rPr>
                        <a:t>Radiology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C1717"/>
                          </a:solidFill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C1717"/>
                          </a:solidFill>
                        </a:rPr>
                        <a:t>0.861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C1717"/>
                          </a:solidFill>
                        </a:rPr>
                        <a:t>0.889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C1717"/>
                          </a:solidFill>
                        </a:rPr>
                        <a:t>0.870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C1717"/>
                          </a:solidFill>
                        </a:rPr>
                        <a:t>Physiotherapy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C1717"/>
                          </a:solidFill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C1717"/>
                          </a:solidFill>
                        </a:rPr>
                        <a:t>0.971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C1717"/>
                          </a:solidFill>
                        </a:rPr>
                        <a:t>0.971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C1717"/>
                          </a:solidFill>
                        </a:rPr>
                        <a:t>0.971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C1717"/>
                          </a:solidFill>
                        </a:rPr>
                        <a:t>Cardiovascular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C1717"/>
                          </a:solidFill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C1717"/>
                          </a:solidFill>
                        </a:rPr>
                        <a:t>0.956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C1717"/>
                          </a:solidFill>
                        </a:rPr>
                        <a:t>0.978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C1717"/>
                          </a:solidFill>
                        </a:rPr>
                        <a:t>0.967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1C1717"/>
                </a:solidFill>
              </a:rPr>
              <a:t>Transformer intent classifier:  train accuracy 1.000 · final CE loss 0.0003 over 40 epochs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C1717"/>
                </a:solidFill>
              </a:rPr>
              <a:t>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3385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C1717"/>
                </a:solidFill>
              </a:rPr>
              <a:t>•  No LLM dependency</a:t>
            </a:r>
            <a:r>
              <a:rPr sz="2000" dirty="0">
                <a:solidFill>
                  <a:srgbClr val="78716C"/>
                </a:solidFill>
              </a:rPr>
              <a:t> reproducible, auditable, no API costs, no hallucinations.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Every algorithm is ours</a:t>
            </a:r>
            <a:r>
              <a:rPr sz="2000" dirty="0">
                <a:solidFill>
                  <a:srgbClr val="78716C"/>
                </a:solidFill>
              </a:rPr>
              <a:t> drop-in replacements for </a:t>
            </a:r>
            <a:r>
              <a:rPr sz="2000" dirty="0" err="1">
                <a:solidFill>
                  <a:srgbClr val="78716C"/>
                </a:solidFill>
              </a:rPr>
              <a:t>sklearn</a:t>
            </a:r>
            <a:r>
              <a:rPr sz="2000" dirty="0">
                <a:solidFill>
                  <a:srgbClr val="78716C"/>
                </a:solidFill>
              </a:rPr>
              <a:t>, rank_bm25 and sentence-transformers.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Hybrid retrieval works</a:t>
            </a:r>
            <a:r>
              <a:rPr sz="2000" dirty="0">
                <a:solidFill>
                  <a:srgbClr val="78716C"/>
                </a:solidFill>
              </a:rPr>
              <a:t> P@1 0.93 across 116 held-out queries at 22 </a:t>
            </a:r>
            <a:r>
              <a:rPr sz="2000" dirty="0" err="1">
                <a:solidFill>
                  <a:srgbClr val="78716C"/>
                </a:solidFill>
              </a:rPr>
              <a:t>ms</a:t>
            </a:r>
            <a:r>
              <a:rPr sz="2000" dirty="0">
                <a:solidFill>
                  <a:srgbClr val="78716C"/>
                </a:solidFill>
              </a:rPr>
              <a:t> p50.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Multi-turn dialog</a:t>
            </a:r>
            <a:r>
              <a:rPr sz="2000" dirty="0">
                <a:solidFill>
                  <a:srgbClr val="78716C"/>
                </a:solidFill>
              </a:rPr>
              <a:t> coreference, slot filling, topic tracking, triage banner, empathic openers, disambiguation.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Pakistan-friendly</a:t>
            </a:r>
            <a:r>
              <a:rPr sz="2000" dirty="0">
                <a:solidFill>
                  <a:srgbClr val="78716C"/>
                </a:solidFill>
              </a:rPr>
              <a:t> Roman-Urdu phonetic mapping, 1122 emergency wording, PHI scrub at ingest.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One-command deploy</a:t>
            </a:r>
            <a:r>
              <a:rPr sz="2000" dirty="0">
                <a:solidFill>
                  <a:srgbClr val="78716C"/>
                </a:solidFill>
              </a:rPr>
              <a:t> docker compose up auto-seeds Mongo, builds API + Next.js.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Real-time analytics</a:t>
            </a:r>
            <a:r>
              <a:rPr sz="2000" dirty="0">
                <a:solidFill>
                  <a:srgbClr val="78716C"/>
                </a:solidFill>
              </a:rPr>
              <a:t> FAQ count increments live, persisted in Mongo, surfaced in /admin.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Trainable transformer</a:t>
            </a:r>
            <a:r>
              <a:rPr sz="2000" dirty="0">
                <a:solidFill>
                  <a:srgbClr val="78716C"/>
                </a:solidFill>
              </a:rPr>
              <a:t> GPU-ready </a:t>
            </a:r>
            <a:r>
              <a:rPr sz="2000" dirty="0" err="1">
                <a:solidFill>
                  <a:srgbClr val="78716C"/>
                </a:solidFill>
              </a:rPr>
              <a:t>PyTorch</a:t>
            </a:r>
            <a:r>
              <a:rPr sz="2000" dirty="0">
                <a:solidFill>
                  <a:srgbClr val="78716C"/>
                </a:solidFill>
              </a:rPr>
              <a:t> model trained from scratch on our own corpus.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C1717"/>
                </a:solidFill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3385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C1717"/>
                </a:solidFill>
              </a:rPr>
              <a:t>•  Small corpus</a:t>
            </a:r>
            <a:r>
              <a:rPr sz="2000" dirty="0">
                <a:solidFill>
                  <a:srgbClr val="78716C"/>
                </a:solidFill>
              </a:rPr>
              <a:t> 169 FAQs cover the most common questions but out-of-distribution queries fall through to best-guess.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Eval is approximate</a:t>
            </a:r>
            <a:r>
              <a:rPr sz="2000" dirty="0">
                <a:solidFill>
                  <a:srgbClr val="78716C"/>
                </a:solidFill>
              </a:rPr>
              <a:t> expected-keyword match in the answer can mark a correct FAQ as wrong when phrasing diverges.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Transformer overfits</a:t>
            </a:r>
            <a:r>
              <a:rPr sz="2000" dirty="0">
                <a:solidFill>
                  <a:srgbClr val="78716C"/>
                </a:solidFill>
              </a:rPr>
              <a:t> trained on 1206 augmented examples; held-out test of the classifier itself is still small.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NER is dictionary-first</a:t>
            </a:r>
            <a:r>
              <a:rPr sz="2000" dirty="0">
                <a:solidFill>
                  <a:srgbClr val="78716C"/>
                </a:solidFill>
              </a:rPr>
              <a:t> the CRF + structured perceptron variants improve coverage but training data is only 32 hand-annotated sentences.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Roman-Urdu is heuristic</a:t>
            </a:r>
            <a:r>
              <a:rPr sz="2000" dirty="0">
                <a:solidFill>
                  <a:srgbClr val="78716C"/>
                </a:solidFill>
              </a:rPr>
              <a:t> ~80-word dictionary catches common cases; full transliteration would need a real parallel corpus.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Voice input is browser-native</a:t>
            </a:r>
            <a:r>
              <a:rPr sz="2000" dirty="0">
                <a:solidFill>
                  <a:srgbClr val="78716C"/>
                </a:solidFill>
              </a:rPr>
              <a:t> Web Speech API works in Chrome / Edge only.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Counts are at-most-once per turn</a:t>
            </a:r>
            <a:r>
              <a:rPr sz="2000" dirty="0">
                <a:solidFill>
                  <a:srgbClr val="78716C"/>
                </a:solidFill>
              </a:rPr>
              <a:t> no fraud / abuse heuristic</a:t>
            </a:r>
            <a:r>
              <a:rPr lang="en-US" sz="2000" dirty="0">
                <a:solidFill>
                  <a:srgbClr val="78716C"/>
                </a:solidFill>
              </a:rPr>
              <a:t>,</a:t>
            </a:r>
            <a:r>
              <a:rPr sz="2000" dirty="0">
                <a:solidFill>
                  <a:srgbClr val="78716C"/>
                </a:solidFill>
              </a:rPr>
              <a:t> every successful match increments.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C1717"/>
                </a:solidFill>
              </a:rPr>
              <a:t>Future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3385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C1717"/>
                </a:solidFill>
              </a:rPr>
              <a:t>•  Grow the corpus</a:t>
            </a:r>
            <a:r>
              <a:rPr sz="2000" dirty="0">
                <a:solidFill>
                  <a:srgbClr val="78716C"/>
                </a:solidFill>
              </a:rPr>
              <a:t> 500+ FAQs across more specialties with clinician validation.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Bi-encoder upgrade</a:t>
            </a:r>
            <a:r>
              <a:rPr sz="2000" dirty="0">
                <a:solidFill>
                  <a:srgbClr val="78716C"/>
                </a:solidFill>
              </a:rPr>
              <a:t> train the dual encoder on real clinician-rated query–FAQ pairs, not just keyword-derived positives.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Active learning loop</a:t>
            </a:r>
            <a:r>
              <a:rPr sz="2000" dirty="0">
                <a:solidFill>
                  <a:srgbClr val="78716C"/>
                </a:solidFill>
              </a:rPr>
              <a:t> low-confidence turns get queued for clinician review; approved Q/A pairs feed back into the corpus.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Real Urdu</a:t>
            </a:r>
            <a:r>
              <a:rPr sz="2000" dirty="0">
                <a:solidFill>
                  <a:srgbClr val="78716C"/>
                </a:solidFill>
              </a:rPr>
              <a:t> deeper transliteration trained on a parallel corpus; voice input in Urdu.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Clinical eval</a:t>
            </a:r>
            <a:r>
              <a:rPr sz="2000" dirty="0">
                <a:solidFill>
                  <a:srgbClr val="78716C"/>
                </a:solidFill>
              </a:rPr>
              <a:t> NDCG with clinician-rated relevance instead of a keyword heuristic.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GPU service</a:t>
            </a:r>
            <a:r>
              <a:rPr sz="2000" dirty="0">
                <a:solidFill>
                  <a:srgbClr val="78716C"/>
                </a:solidFill>
              </a:rPr>
              <a:t> dedicated container with CUDA wheel for heavier neural extensions.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Audit + governance</a:t>
            </a:r>
            <a:r>
              <a:rPr sz="2000" dirty="0">
                <a:solidFill>
                  <a:srgbClr val="78716C"/>
                </a:solidFill>
              </a:rPr>
              <a:t> version-controlled FAQ approval workflow, rollback, change-log.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C1717"/>
                </a:solidFill>
              </a:rPr>
              <a:t>Live demo · how to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78716C"/>
                </a:solidFill>
              </a:rPr>
              <a:t>Single command brings the entire stack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059669"/>
                </a:solidFill>
              </a:rPr>
              <a:t>docker compose up --build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13385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C1717"/>
                </a:solidFill>
              </a:rPr>
              <a:t>•  http://localhost:3000/</a:t>
            </a:r>
            <a:r>
              <a:rPr sz="2000" dirty="0">
                <a:solidFill>
                  <a:srgbClr val="78716C"/>
                </a:solidFill>
              </a:rPr>
              <a:t>  </a:t>
            </a:r>
            <a:r>
              <a:rPr lang="en-US" sz="2000" dirty="0">
                <a:solidFill>
                  <a:srgbClr val="78716C"/>
                </a:solidFill>
              </a:rPr>
              <a:t>=</a:t>
            </a:r>
            <a:r>
              <a:rPr sz="2000" dirty="0">
                <a:solidFill>
                  <a:srgbClr val="78716C"/>
                </a:solidFill>
              </a:rPr>
              <a:t> landing page · pick a specialty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/chat/radiology</a:t>
            </a:r>
            <a:r>
              <a:rPr sz="2000" dirty="0">
                <a:solidFill>
                  <a:srgbClr val="78716C"/>
                </a:solidFill>
              </a:rPr>
              <a:t>  </a:t>
            </a:r>
            <a:r>
              <a:rPr lang="en-US" sz="2000" dirty="0">
                <a:solidFill>
                  <a:srgbClr val="78716C"/>
                </a:solidFill>
              </a:rPr>
              <a:t>=</a:t>
            </a:r>
            <a:r>
              <a:rPr sz="2000" dirty="0">
                <a:solidFill>
                  <a:srgbClr val="78716C"/>
                </a:solidFill>
              </a:rPr>
              <a:t> full chatbot · NLP debug panel · voice input · reset / topic chip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/playground</a:t>
            </a:r>
            <a:r>
              <a:rPr sz="2000" dirty="0">
                <a:solidFill>
                  <a:srgbClr val="78716C"/>
                </a:solidFill>
              </a:rPr>
              <a:t>  </a:t>
            </a:r>
            <a:r>
              <a:rPr lang="en-US" sz="2000" dirty="0">
                <a:solidFill>
                  <a:srgbClr val="78716C"/>
                </a:solidFill>
              </a:rPr>
              <a:t>=</a:t>
            </a:r>
            <a:r>
              <a:rPr sz="2000" dirty="0">
                <a:solidFill>
                  <a:srgbClr val="78716C"/>
                </a:solidFill>
              </a:rPr>
              <a:t> type any sentence, see every NLP layer live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/architecture</a:t>
            </a:r>
            <a:r>
              <a:rPr sz="2000" dirty="0">
                <a:solidFill>
                  <a:srgbClr val="78716C"/>
                </a:solidFill>
              </a:rPr>
              <a:t>  </a:t>
            </a:r>
            <a:r>
              <a:rPr lang="en-US" sz="2000" dirty="0">
                <a:solidFill>
                  <a:srgbClr val="78716C"/>
                </a:solidFill>
              </a:rPr>
              <a:t>=</a:t>
            </a:r>
            <a:r>
              <a:rPr sz="2000" dirty="0">
                <a:solidFill>
                  <a:srgbClr val="78716C"/>
                </a:solidFill>
              </a:rPr>
              <a:t> system architecture diagram + technique table + metrics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/admin</a:t>
            </a:r>
            <a:r>
              <a:rPr sz="2000" dirty="0">
                <a:solidFill>
                  <a:srgbClr val="78716C"/>
                </a:solidFill>
              </a:rPr>
              <a:t>  </a:t>
            </a:r>
            <a:r>
              <a:rPr lang="en-US" sz="2000" dirty="0">
                <a:solidFill>
                  <a:srgbClr val="78716C"/>
                </a:solidFill>
              </a:rPr>
              <a:t>=</a:t>
            </a:r>
            <a:r>
              <a:rPr sz="2000" dirty="0">
                <a:solidFill>
                  <a:srgbClr val="78716C"/>
                </a:solidFill>
              </a:rPr>
              <a:t> live FAQ counts + chart-rich admin dashboard</a:t>
            </a: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python api/train_transformer.py --verbose</a:t>
            </a:r>
            <a:r>
              <a:rPr sz="2000" dirty="0">
                <a:solidFill>
                  <a:srgbClr val="78716C"/>
                </a:solidFill>
              </a:rPr>
              <a:t>  </a:t>
            </a:r>
            <a:r>
              <a:rPr lang="en-US" sz="2000" dirty="0">
                <a:solidFill>
                  <a:srgbClr val="78716C"/>
                </a:solidFill>
              </a:rPr>
              <a:t>=</a:t>
            </a:r>
            <a:r>
              <a:rPr sz="2000" dirty="0">
                <a:solidFill>
                  <a:srgbClr val="78716C"/>
                </a:solidFill>
              </a:rPr>
              <a:t> train </a:t>
            </a:r>
            <a:r>
              <a:rPr sz="2000">
                <a:solidFill>
                  <a:srgbClr val="78716C"/>
                </a:solidFill>
              </a:rPr>
              <a:t>the transformer</a:t>
            </a:r>
            <a:endParaRPr sz="2000" dirty="0">
              <a:solidFill>
                <a:srgbClr val="78716C"/>
              </a:solidFill>
            </a:endParaRPr>
          </a:p>
          <a:p>
            <a:pPr algn="l"/>
            <a:r>
              <a:rPr sz="2000" b="1" dirty="0">
                <a:solidFill>
                  <a:srgbClr val="1C1717"/>
                </a:solidFill>
              </a:rPr>
              <a:t>•  python api/eval.py</a:t>
            </a:r>
            <a:r>
              <a:rPr sz="2000" dirty="0">
                <a:solidFill>
                  <a:srgbClr val="78716C"/>
                </a:solidFill>
              </a:rPr>
              <a:t>  </a:t>
            </a:r>
            <a:r>
              <a:rPr lang="en-US" sz="2000" dirty="0">
                <a:solidFill>
                  <a:srgbClr val="78716C"/>
                </a:solidFill>
              </a:rPr>
              <a:t>=</a:t>
            </a:r>
            <a:r>
              <a:rPr sz="2000" dirty="0">
                <a:solidFill>
                  <a:srgbClr val="78716C"/>
                </a:solidFill>
              </a:rPr>
              <a:t> regenerate EVALUATION_REPORT.md from 116 held-out queries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1216</Words>
  <Application>Microsoft Office PowerPoint</Application>
  <PresentationFormat>Custom</PresentationFormat>
  <Paragraphs>147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 Ghani</cp:lastModifiedBy>
  <cp:revision>7</cp:revision>
  <dcterms:created xsi:type="dcterms:W3CDTF">2013-01-27T09:14:16Z</dcterms:created>
  <dcterms:modified xsi:type="dcterms:W3CDTF">2026-05-23T04:15:17Z</dcterms:modified>
  <cp:category/>
</cp:coreProperties>
</file>