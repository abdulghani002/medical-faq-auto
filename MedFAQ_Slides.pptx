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0" b="1">
                <a:solidFill>
                  <a:srgbClr val="1C1717"/>
                </a:solidFill>
              </a:rPr>
              <a:t>MedFAQ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0">
                <a:solidFill>
                  <a:srgbClr val="1C1717"/>
                </a:solidFill>
              </a:rPr>
              <a:t>Auto-Generated Medical FAQ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78716C"/>
                </a:solidFill>
              </a:rPr>
              <a:t>Retrieval-only chatbot · no LLM · every model built from scratch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1C1717"/>
                </a:solidFill>
              </a:rPr>
              <a:t>Abdul Ghani · Anas Bhatti · Muhammad Salman </a:t>
            </a:r>
            <a:r>
              <a:rPr lang="en-US" sz="1400" dirty="0">
                <a:solidFill>
                  <a:srgbClr val="1C1717"/>
                </a:solidFill>
              </a:rPr>
              <a:t>· Raja Mahad Ali</a:t>
            </a:r>
            <a:endParaRPr sz="1400" b="0" dirty="0">
              <a:solidFill>
                <a:srgbClr val="1C171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NUTECH · 6th semester · github.com/AbdulGhani002/medical-faq-auto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Scope and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dirty="0">
                <a:solidFill>
                  <a:srgbClr val="78716C"/>
                </a:solidFill>
              </a:rPr>
              <a:t>Problem · </a:t>
            </a:r>
            <a:r>
              <a:rPr lang="en-US" sz="1400" b="0" dirty="0">
                <a:solidFill>
                  <a:srgbClr val="78716C"/>
                </a:solidFill>
              </a:rPr>
              <a:t>Different </a:t>
            </a:r>
            <a:r>
              <a:rPr sz="1400" b="0" dirty="0">
                <a:solidFill>
                  <a:srgbClr val="78716C"/>
                </a:solidFill>
              </a:rPr>
              <a:t>Patients ask </a:t>
            </a:r>
            <a:r>
              <a:rPr lang="en-US" sz="1400" b="0" dirty="0">
                <a:solidFill>
                  <a:srgbClr val="78716C"/>
                </a:solidFill>
              </a:rPr>
              <a:t>almost </a:t>
            </a:r>
            <a:r>
              <a:rPr sz="1400" b="0" dirty="0">
                <a:solidFill>
                  <a:srgbClr val="78716C"/>
                </a:solidFill>
              </a:rPr>
              <a:t>same questions every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C1717"/>
                </a:solidFill>
              </a:rPr>
              <a:t>•  Goal</a:t>
            </a:r>
            <a:r>
              <a:rPr sz="2000" dirty="0">
                <a:solidFill>
                  <a:srgbClr val="78716C"/>
                </a:solidFill>
              </a:rPr>
              <a:t>  Retrieval chatbot that answers from an approved, clinician-reviewed index across three specialties.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Specialties</a:t>
            </a:r>
            <a:r>
              <a:rPr sz="2000" dirty="0">
                <a:solidFill>
                  <a:srgbClr val="78716C"/>
                </a:solidFill>
              </a:rPr>
              <a:t>   Radiology · Physiotherapy · Cardiovascular.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Hard constraint</a:t>
            </a:r>
            <a:r>
              <a:rPr sz="2000" dirty="0">
                <a:solidFill>
                  <a:srgbClr val="78716C"/>
                </a:solidFill>
              </a:rPr>
              <a:t>  No </a:t>
            </a:r>
            <a:r>
              <a:rPr lang="en-US" sz="2000" dirty="0">
                <a:solidFill>
                  <a:srgbClr val="78716C"/>
                </a:solidFill>
              </a:rPr>
              <a:t>external or local LLM. 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Pakistan context</a:t>
            </a:r>
            <a:r>
              <a:rPr sz="2000" dirty="0">
                <a:solidFill>
                  <a:srgbClr val="78716C"/>
                </a:solidFill>
              </a:rPr>
              <a:t>  Roman-Urdu phonetic input · PHI scrub.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Runtime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dirty="0">
                <a:solidFill>
                  <a:srgbClr val="78716C"/>
                </a:solidFill>
              </a:rPr>
              <a:t>Each user turn flows top-to-bottom in ~22 </a:t>
            </a:r>
            <a:r>
              <a:rPr sz="1400" b="0" dirty="0" err="1">
                <a:solidFill>
                  <a:srgbClr val="78716C"/>
                </a:solidFill>
              </a:rPr>
              <a:t>ms.</a:t>
            </a:r>
            <a:endParaRPr sz="1400" b="0" dirty="0">
              <a:solidFill>
                <a:srgbClr val="78716C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C1717"/>
                </a:solidFill>
              </a:rPr>
              <a:t>•  Preprocess</a:t>
            </a:r>
            <a:r>
              <a:rPr sz="2000" dirty="0">
                <a:solidFill>
                  <a:srgbClr val="78716C"/>
                </a:solidFill>
              </a:rPr>
              <a:t>  PHI scrub → Roman-Urdu expand → coreference → context augment → spell-correct.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Understanding</a:t>
            </a:r>
            <a:r>
              <a:rPr sz="2000" dirty="0">
                <a:solidFill>
                  <a:srgbClr val="78716C"/>
                </a:solidFill>
              </a:rPr>
              <a:t> </a:t>
            </a:r>
            <a:r>
              <a:rPr sz="2000" dirty="0" err="1">
                <a:solidFill>
                  <a:srgbClr val="78716C"/>
                </a:solidFill>
              </a:rPr>
              <a:t>Tokeniser</a:t>
            </a:r>
            <a:r>
              <a:rPr sz="2000" dirty="0">
                <a:solidFill>
                  <a:srgbClr val="78716C"/>
                </a:solidFill>
              </a:rPr>
              <a:t> · POS (lexicon + HMM) · NER (</a:t>
            </a:r>
            <a:r>
              <a:rPr sz="2000" dirty="0" err="1">
                <a:solidFill>
                  <a:srgbClr val="78716C"/>
                </a:solidFill>
              </a:rPr>
              <a:t>dict</a:t>
            </a:r>
            <a:r>
              <a:rPr sz="2000" dirty="0">
                <a:solidFill>
                  <a:srgbClr val="78716C"/>
                </a:solidFill>
              </a:rPr>
              <a:t> + perceptron + CRF) · negation · sentiment · triage · intent (NB / MLP / Transformer).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Retrieve (5 channels)</a:t>
            </a:r>
            <a:r>
              <a:rPr sz="2000" dirty="0">
                <a:solidFill>
                  <a:srgbClr val="78716C"/>
                </a:solidFill>
              </a:rPr>
              <a:t>  TF-IDF word 0.20 · TF-IDF char 0.45 · BM25 0.25 · LSA 0.05 · PPMI 0.05.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</a:t>
            </a:r>
            <a:r>
              <a:rPr sz="2000" b="1" dirty="0" err="1">
                <a:solidFill>
                  <a:srgbClr val="1C1717"/>
                </a:solidFill>
              </a:rPr>
              <a:t>Rerank</a:t>
            </a:r>
            <a:r>
              <a:rPr sz="2000" dirty="0">
                <a:solidFill>
                  <a:srgbClr val="78716C"/>
                </a:solidFill>
              </a:rPr>
              <a:t> PRF (Rocchio) → LTR (</a:t>
            </a:r>
            <a:r>
              <a:rPr sz="2000" dirty="0" err="1">
                <a:solidFill>
                  <a:srgbClr val="78716C"/>
                </a:solidFill>
              </a:rPr>
              <a:t>LogReg</a:t>
            </a:r>
            <a:r>
              <a:rPr sz="2000" dirty="0">
                <a:solidFill>
                  <a:srgbClr val="78716C"/>
                </a:solidFill>
              </a:rPr>
              <a:t>, 14 features) → MMR diversify.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Dialog</a:t>
            </a:r>
            <a:r>
              <a:rPr sz="2000" dirty="0">
                <a:solidFill>
                  <a:srgbClr val="78716C"/>
                </a:solidFill>
              </a:rPr>
              <a:t>  Empathic opener · triage banner · clarification · disambiguation card · stem-overlap highlight.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Reply</a:t>
            </a:r>
            <a:r>
              <a:rPr sz="2000" dirty="0">
                <a:solidFill>
                  <a:srgbClr val="78716C"/>
                </a:solidFill>
              </a:rPr>
              <a:t> answer + score breakdown </a:t>
            </a:r>
            <a:endParaRPr lang="en-US" sz="2000" dirty="0">
              <a:solidFill>
                <a:srgbClr val="78716C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All data lives in `data/*.jsonl`. Regenerated by `data/build_jsonl.py`.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279299"/>
              </p:ext>
            </p:extLst>
          </p:nvPr>
        </p:nvGraphicFramePr>
        <p:xfrm>
          <a:off x="457200" y="169164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C1717"/>
                          </a:solidFill>
                        </a:rPr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C1717"/>
                          </a:solidFill>
                        </a:rP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C1717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faqs.jsonl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Hand-written clinician-style FAQs (3 specialties)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intents.jsonl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C1717"/>
                          </a:solidFill>
                        </a:rPr>
                        <a:t>Curated intent training, 13 classes incl. meta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intents_augmented.jsonl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1206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C1717"/>
                          </a:solidFill>
                        </a:rPr>
                        <a:t>6-way augmentation: synonyms / typos / prefixes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eval_queries.jsonl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C1717"/>
                          </a:solidFill>
                        </a:rPr>
                        <a:t>Held-out queries with expected keywords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ner_examples.jsonl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C1717"/>
                          </a:solidFill>
                        </a:rPr>
                        <a:t>BIO-tagged for CRF training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sentiment_lexicon.jsonl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C1717"/>
                          </a:solidFill>
                        </a:rPr>
                        <a:t>Polarity weights + intensifiers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chat_logs.jsonl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C1717"/>
                          </a:solidFill>
                        </a:rPr>
                        <a:t>Synthetic patient sessions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kg_triples.jsonl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717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C1717"/>
                          </a:solidFill>
                        </a:rPr>
                        <a:t>Auto-mined (subject, predicate, object) triples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09360"/>
            <a:ext cx="109728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78716C"/>
                </a:solidFill>
              </a:rPr>
              <a:t>Counts persist live in MongoDB on every chat match </a:t>
            </a:r>
            <a:r>
              <a:rPr lang="en-US" sz="1200" b="0" dirty="0">
                <a:solidFill>
                  <a:srgbClr val="78716C"/>
                </a:solidFill>
              </a:rPr>
              <a:t>-&gt;</a:t>
            </a:r>
            <a:r>
              <a:rPr sz="1200" b="0" dirty="0">
                <a:solidFill>
                  <a:srgbClr val="78716C"/>
                </a:solidFill>
              </a:rPr>
              <a:t> popular FAQs surface to the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1C1717"/>
                </a:solidFill>
              </a:rPr>
              <a:t>Model</a:t>
            </a:r>
            <a:r>
              <a:rPr lang="en-US" sz="3000" b="1" dirty="0">
                <a:solidFill>
                  <a:srgbClr val="1C1717"/>
                </a:solidFill>
              </a:rPr>
              <a:t>s</a:t>
            </a:r>
            <a:endParaRPr sz="3000" b="1" dirty="0">
              <a:solidFill>
                <a:srgbClr val="1C1717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9496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500" b="1" dirty="0" err="1">
                <a:solidFill>
                  <a:srgbClr val="1C1717"/>
                </a:solidFill>
              </a:rPr>
              <a:t>Numpy</a:t>
            </a:r>
            <a:r>
              <a:rPr lang="en-US" sz="1500" b="1" dirty="0">
                <a:solidFill>
                  <a:srgbClr val="1C1717"/>
                </a:solidFill>
              </a:rPr>
              <a:t> </a:t>
            </a:r>
            <a:r>
              <a:rPr sz="1500" b="1" dirty="0">
                <a:solidFill>
                  <a:srgbClr val="1C1717"/>
                </a:solidFill>
              </a:rPr>
              <a:t>(</a:t>
            </a:r>
            <a:r>
              <a:rPr sz="1500" b="1" dirty="0" err="1">
                <a:solidFill>
                  <a:srgbClr val="1C1717"/>
                </a:solidFill>
              </a:rPr>
              <a:t>myml</a:t>
            </a:r>
            <a:r>
              <a:rPr sz="1500" b="1" dirty="0">
                <a:solidFill>
                  <a:srgbClr val="1C1717"/>
                </a:solidFill>
              </a:rPr>
              <a:t>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486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C1717"/>
                </a:solidFill>
              </a:rPr>
              <a:t>•  TF-IDF</a:t>
            </a:r>
            <a:r>
              <a:rPr sz="2000" dirty="0">
                <a:solidFill>
                  <a:srgbClr val="78716C"/>
                </a:solidFill>
              </a:rPr>
              <a:t>  word + char n-grams, sublinear TF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BM25 Okapi</a:t>
            </a:r>
            <a:r>
              <a:rPr sz="2000" dirty="0">
                <a:solidFill>
                  <a:srgbClr val="78716C"/>
                </a:solidFill>
              </a:rPr>
              <a:t>  Lucene-style smoothed IDF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Naive Bayes</a:t>
            </a:r>
            <a:r>
              <a:rPr sz="2000" dirty="0">
                <a:solidFill>
                  <a:srgbClr val="78716C"/>
                </a:solidFill>
              </a:rPr>
              <a:t>  Laplace smoothing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Logistic Reg.</a:t>
            </a:r>
            <a:r>
              <a:rPr sz="2000" dirty="0">
                <a:solidFill>
                  <a:srgbClr val="78716C"/>
                </a:solidFill>
              </a:rPr>
              <a:t>  batch GD + L2 + class weights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</a:t>
            </a:r>
            <a:r>
              <a:rPr sz="2000" b="1" dirty="0" err="1">
                <a:solidFill>
                  <a:srgbClr val="1C1717"/>
                </a:solidFill>
              </a:rPr>
              <a:t>Randomised</a:t>
            </a:r>
            <a:r>
              <a:rPr sz="2000" b="1" dirty="0">
                <a:solidFill>
                  <a:srgbClr val="1C1717"/>
                </a:solidFill>
              </a:rPr>
              <a:t> SVD</a:t>
            </a:r>
            <a:r>
              <a:rPr sz="2000" dirty="0">
                <a:solidFill>
                  <a:srgbClr val="78716C"/>
                </a:solidFill>
              </a:rPr>
              <a:t>  Halko-Martinsson-Tropp 2011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K-Means</a:t>
            </a:r>
            <a:r>
              <a:rPr sz="2000" dirty="0">
                <a:solidFill>
                  <a:srgbClr val="78716C"/>
                </a:solidFill>
              </a:rPr>
              <a:t>  k-means++ </a:t>
            </a:r>
            <a:r>
              <a:rPr sz="2000" dirty="0" err="1">
                <a:solidFill>
                  <a:srgbClr val="78716C"/>
                </a:solidFill>
              </a:rPr>
              <a:t>init</a:t>
            </a:r>
            <a:endParaRPr sz="2000" dirty="0">
              <a:solidFill>
                <a:srgbClr val="78716C"/>
              </a:solidFill>
            </a:endParaRP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MLP + backprop</a:t>
            </a:r>
            <a:r>
              <a:rPr sz="2000" dirty="0">
                <a:solidFill>
                  <a:srgbClr val="78716C"/>
                </a:solidFill>
              </a:rPr>
              <a:t>  </a:t>
            </a:r>
            <a:r>
              <a:rPr sz="2000" dirty="0" err="1">
                <a:solidFill>
                  <a:srgbClr val="78716C"/>
                </a:solidFill>
              </a:rPr>
              <a:t>ReLU</a:t>
            </a:r>
            <a:r>
              <a:rPr sz="2000" dirty="0">
                <a:solidFill>
                  <a:srgbClr val="78716C"/>
                </a:solidFill>
              </a:rPr>
              <a:t>/</a:t>
            </a:r>
            <a:r>
              <a:rPr sz="2000" dirty="0" err="1">
                <a:solidFill>
                  <a:srgbClr val="78716C"/>
                </a:solidFill>
              </a:rPr>
              <a:t>softmax</a:t>
            </a:r>
            <a:r>
              <a:rPr sz="2000" dirty="0">
                <a:solidFill>
                  <a:srgbClr val="78716C"/>
                </a:solidFill>
              </a:rPr>
              <a:t>, momentum SGD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CRF</a:t>
            </a:r>
            <a:r>
              <a:rPr sz="2000" dirty="0">
                <a:solidFill>
                  <a:srgbClr val="78716C"/>
                </a:solidFill>
              </a:rPr>
              <a:t>  forward-backward + Viterbi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Word2Vec</a:t>
            </a:r>
            <a:r>
              <a:rPr sz="2000" dirty="0">
                <a:solidFill>
                  <a:srgbClr val="78716C"/>
                </a:solidFill>
              </a:rPr>
              <a:t>  skip-gram + neg sampling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Dual encoder</a:t>
            </a:r>
            <a:r>
              <a:rPr sz="2000" dirty="0">
                <a:solidFill>
                  <a:srgbClr val="78716C"/>
                </a:solidFill>
              </a:rPr>
              <a:t>  </a:t>
            </a:r>
            <a:r>
              <a:rPr sz="2000" dirty="0" err="1">
                <a:solidFill>
                  <a:srgbClr val="78716C"/>
                </a:solidFill>
              </a:rPr>
              <a:t>InfoNCE</a:t>
            </a:r>
            <a:r>
              <a:rPr sz="2000" dirty="0">
                <a:solidFill>
                  <a:srgbClr val="78716C"/>
                </a:solidFill>
              </a:rPr>
              <a:t> bi-encoder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BPE tokenizer</a:t>
            </a:r>
            <a:r>
              <a:rPr sz="2000" dirty="0">
                <a:solidFill>
                  <a:srgbClr val="78716C"/>
                </a:solidFill>
              </a:rPr>
              <a:t>  Sennrich 2016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Retrieval evaluated on 116 held-out queries; transformer on training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574480"/>
              </p:ext>
            </p:extLst>
          </p:nvPr>
        </p:nvGraphicFramePr>
        <p:xfrm>
          <a:off x="457200" y="1783080"/>
          <a:ext cx="3657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C1717"/>
                          </a:solidFill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C1717"/>
                          </a:solidFill>
                        </a:rPr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Precision@1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C1717"/>
                          </a:solidFill>
                        </a:rPr>
                        <a:t>MRR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0.938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C1717"/>
                          </a:solidFill>
                        </a:rPr>
                        <a:t>Recall@5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0.948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C1717"/>
                          </a:solidFill>
                        </a:rPr>
                        <a:t>Median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22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C1717"/>
                          </a:solidFill>
                        </a:rP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C1717"/>
                          </a:solidFill>
                        </a:rPr>
                        <a:t>47 </a:t>
                      </a:r>
                      <a:r>
                        <a:rPr sz="2000" dirty="0" err="1">
                          <a:solidFill>
                            <a:srgbClr val="1C1717"/>
                          </a:solidFill>
                        </a:rPr>
                        <a:t>ms</a:t>
                      </a:r>
                      <a:endParaRPr sz="2000" dirty="0">
                        <a:solidFill>
                          <a:srgbClr val="1C1717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486212"/>
              </p:ext>
            </p:extLst>
          </p:nvPr>
        </p:nvGraphicFramePr>
        <p:xfrm>
          <a:off x="4191000" y="1783080"/>
          <a:ext cx="78105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C1717"/>
                          </a:solidFill>
                        </a:rPr>
                        <a:t>Specialty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C1717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C1717"/>
                          </a:solidFill>
                        </a:rPr>
                        <a:t>P@1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C1717"/>
                          </a:solidFill>
                        </a:rPr>
                        <a:t>Recall@5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C1717"/>
                          </a:solidFill>
                        </a:rPr>
                        <a:t>MRR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Radiology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0.870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Physiotherapy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Cardiovascular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C1717"/>
                          </a:solidFill>
                        </a:rPr>
                        <a:t>0.978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C1717"/>
                          </a:solidFill>
                        </a:rPr>
                        <a:t>0.967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0116DF1-C31E-07FA-1366-4A0A7BE5A14F}"/>
              </a:ext>
            </a:extLst>
          </p:cNvPr>
          <p:cNvSpPr txBox="1"/>
          <p:nvPr/>
        </p:nvSpPr>
        <p:spPr>
          <a:xfrm>
            <a:off x="8951976" y="4370832"/>
            <a:ext cx="2263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Mean Reciprocal Rank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C1717"/>
                </a:solidFill>
              </a:rPr>
              <a:t>•  Hybrid retrieval works</a:t>
            </a:r>
            <a:r>
              <a:rPr sz="2000" dirty="0">
                <a:solidFill>
                  <a:srgbClr val="78716C"/>
                </a:solidFill>
              </a:rPr>
              <a:t>  P@1 0.93 across 116 held-out queries at 22 </a:t>
            </a:r>
            <a:r>
              <a:rPr sz="2000" dirty="0" err="1">
                <a:solidFill>
                  <a:srgbClr val="78716C"/>
                </a:solidFill>
              </a:rPr>
              <a:t>ms</a:t>
            </a:r>
            <a:r>
              <a:rPr sz="2000" dirty="0">
                <a:solidFill>
                  <a:srgbClr val="78716C"/>
                </a:solidFill>
              </a:rPr>
              <a:t> p50.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Multi-turn dialog</a:t>
            </a:r>
            <a:r>
              <a:rPr sz="2000" dirty="0">
                <a:solidFill>
                  <a:srgbClr val="78716C"/>
                </a:solidFill>
              </a:rPr>
              <a:t> coreference, slot filling, topic tracking, triage banner, empathic openers, disambiguation.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Pakistan-friendly</a:t>
            </a:r>
            <a:r>
              <a:rPr sz="2000" dirty="0">
                <a:solidFill>
                  <a:srgbClr val="78716C"/>
                </a:solidFill>
              </a:rPr>
              <a:t> Roman-Urdu phonetic mapping, 1122 emergency wording, PHI scrub at ingest.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Real-time analytics</a:t>
            </a:r>
            <a:r>
              <a:rPr sz="2000" dirty="0">
                <a:solidFill>
                  <a:srgbClr val="78716C"/>
                </a:solidFill>
              </a:rPr>
              <a:t> FAQ count increments live, </a:t>
            </a:r>
            <a:r>
              <a:rPr lang="en-US" sz="2000" dirty="0">
                <a:solidFill>
                  <a:srgbClr val="78716C"/>
                </a:solidFill>
              </a:rPr>
              <a:t>stored</a:t>
            </a:r>
            <a:r>
              <a:rPr sz="2000" dirty="0">
                <a:solidFill>
                  <a:srgbClr val="78716C"/>
                </a:solidFill>
              </a:rPr>
              <a:t> in Mongo, surfaced in /admin.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C1717"/>
                </a:solidFill>
              </a:rPr>
              <a:t>•  Small corpus</a:t>
            </a:r>
            <a:r>
              <a:rPr sz="2000" dirty="0">
                <a:solidFill>
                  <a:srgbClr val="78716C"/>
                </a:solidFill>
              </a:rPr>
              <a:t>  </a:t>
            </a:r>
            <a:r>
              <a:rPr lang="en-US" sz="2000" dirty="0">
                <a:solidFill>
                  <a:srgbClr val="78716C"/>
                </a:solidFill>
              </a:rPr>
              <a:t>Very less</a:t>
            </a:r>
            <a:r>
              <a:rPr sz="2000" dirty="0">
                <a:solidFill>
                  <a:srgbClr val="78716C"/>
                </a:solidFill>
              </a:rPr>
              <a:t> </a:t>
            </a:r>
            <a:r>
              <a:rPr lang="en-US" sz="2000" dirty="0">
                <a:solidFill>
                  <a:srgbClr val="78716C"/>
                </a:solidFill>
              </a:rPr>
              <a:t>data </a:t>
            </a:r>
            <a:r>
              <a:rPr sz="2000" dirty="0">
                <a:solidFill>
                  <a:srgbClr val="78716C"/>
                </a:solidFill>
              </a:rPr>
              <a:t>cover the most common questions but out-of-distribution queries fall through to best-guess.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Eval is approximate</a:t>
            </a:r>
            <a:r>
              <a:rPr sz="2000" dirty="0">
                <a:solidFill>
                  <a:srgbClr val="78716C"/>
                </a:solidFill>
              </a:rPr>
              <a:t>  expected-keyword match in the answer can mark a correct FAQ as wrong when phrasing diverges.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Transformer overfits</a:t>
            </a:r>
            <a:r>
              <a:rPr sz="2000" dirty="0">
                <a:solidFill>
                  <a:srgbClr val="78716C"/>
                </a:solidFill>
              </a:rPr>
              <a:t>  trained on 1206 augmented examples; held-out test of the classifier itself is still small.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NER is dictionary-first</a:t>
            </a:r>
            <a:r>
              <a:rPr sz="2000" dirty="0">
                <a:solidFill>
                  <a:srgbClr val="78716C"/>
                </a:solidFill>
              </a:rPr>
              <a:t>  the CRF + structured perceptron variants improve coverage but training data is only 32 hand-annotated sentences.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Roman-Urdu is heuristic</a:t>
            </a:r>
            <a:r>
              <a:rPr sz="2000" dirty="0">
                <a:solidFill>
                  <a:srgbClr val="78716C"/>
                </a:solidFill>
              </a:rPr>
              <a:t>  ~80-word dictionary catches common cases; full transliteration would need a real parallel corpus.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Voice input is browser-native</a:t>
            </a:r>
            <a:r>
              <a:rPr sz="2000" dirty="0">
                <a:solidFill>
                  <a:srgbClr val="78716C"/>
                </a:solidFill>
              </a:rPr>
              <a:t>  Web Speech API works in Chrome / Edge only.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Counts are at-most-once per turn</a:t>
            </a:r>
            <a:r>
              <a:rPr sz="2000" dirty="0">
                <a:solidFill>
                  <a:srgbClr val="78716C"/>
                </a:solidFill>
              </a:rPr>
              <a:t>  no fraud / abuse heuristic</a:t>
            </a:r>
            <a:r>
              <a:rPr lang="en-US" sz="2000" dirty="0">
                <a:solidFill>
                  <a:srgbClr val="78716C"/>
                </a:solidFill>
              </a:rPr>
              <a:t>,</a:t>
            </a:r>
            <a:r>
              <a:rPr sz="2000" dirty="0">
                <a:solidFill>
                  <a:srgbClr val="78716C"/>
                </a:solidFill>
              </a:rPr>
              <a:t> every successful match increments.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Future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C1717"/>
                </a:solidFill>
              </a:rPr>
              <a:t>•  Grow the corpus</a:t>
            </a:r>
            <a:r>
              <a:rPr sz="2000" dirty="0">
                <a:solidFill>
                  <a:srgbClr val="78716C"/>
                </a:solidFill>
              </a:rPr>
              <a:t>  </a:t>
            </a:r>
            <a:r>
              <a:rPr lang="en-US" sz="2000" dirty="0">
                <a:solidFill>
                  <a:srgbClr val="78716C"/>
                </a:solidFill>
              </a:rPr>
              <a:t>More data </a:t>
            </a:r>
            <a:r>
              <a:rPr sz="2000" dirty="0">
                <a:solidFill>
                  <a:srgbClr val="78716C"/>
                </a:solidFill>
              </a:rPr>
              <a:t>across more specialties with clinician validation.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Bi-encoder upgrade</a:t>
            </a:r>
            <a:r>
              <a:rPr sz="2000" dirty="0">
                <a:solidFill>
                  <a:srgbClr val="78716C"/>
                </a:solidFill>
              </a:rPr>
              <a:t>  train the dual encoder on real clinician-rated query–FAQ pairs, not just keyword-derived positives.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Active learning loop</a:t>
            </a:r>
            <a:r>
              <a:rPr sz="2000" dirty="0">
                <a:solidFill>
                  <a:srgbClr val="78716C"/>
                </a:solidFill>
              </a:rPr>
              <a:t>  low-confidence turns get queued for clinician review; approved Q/A pairs feed back into the corpus.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Real Urdu</a:t>
            </a:r>
            <a:r>
              <a:rPr sz="2000" dirty="0">
                <a:solidFill>
                  <a:srgbClr val="78716C"/>
                </a:solidFill>
              </a:rPr>
              <a:t>  deeper transliteration trained on a parallel corpus; voice input in Urdu.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Clinical eval</a:t>
            </a:r>
            <a:r>
              <a:rPr sz="2000" dirty="0">
                <a:solidFill>
                  <a:srgbClr val="78716C"/>
                </a:solidFill>
              </a:rPr>
              <a:t>  NDCG with clinician-rated relevance instead of a keyword heuristic.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3200" b="1" dirty="0">
                <a:solidFill>
                  <a:srgbClr val="1C1717"/>
                </a:solidFill>
              </a:rPr>
              <a:t>NLP</a:t>
            </a:r>
            <a:r>
              <a:rPr sz="3200" b="1" dirty="0">
                <a:solidFill>
                  <a:srgbClr val="1C1717"/>
                </a:solidFill>
              </a:rPr>
              <a:t>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Every member owns trained models or classical NLP modules.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33856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C1717"/>
                </a:solidFill>
              </a:rPr>
              <a:t>•  Member 1</a:t>
            </a:r>
            <a:r>
              <a:rPr lang="en-US" sz="2000" b="1" dirty="0">
                <a:solidFill>
                  <a:srgbClr val="1C1717"/>
                </a:solidFill>
              </a:rPr>
              <a:t>,</a:t>
            </a:r>
            <a:r>
              <a:rPr sz="2000" b="1" dirty="0">
                <a:solidFill>
                  <a:srgbClr val="1C1717"/>
                </a:solidFill>
              </a:rPr>
              <a:t> Abdul Ghani (F23607005). Token + Retrieval NLP</a:t>
            </a:r>
            <a:r>
              <a:rPr sz="2000" dirty="0">
                <a:solidFill>
                  <a:srgbClr val="78716C"/>
                </a:solidFill>
              </a:rPr>
              <a:t>   </a:t>
            </a:r>
            <a:r>
              <a:rPr sz="2000" dirty="0" err="1">
                <a:solidFill>
                  <a:srgbClr val="78716C"/>
                </a:solidFill>
              </a:rPr>
              <a:t>tokeniser</a:t>
            </a:r>
            <a:r>
              <a:rPr sz="2000" dirty="0">
                <a:solidFill>
                  <a:srgbClr val="78716C"/>
                </a:solidFill>
              </a:rPr>
              <a:t>, Porter stemmer, </a:t>
            </a:r>
            <a:r>
              <a:rPr sz="2000" dirty="0" err="1">
                <a:solidFill>
                  <a:srgbClr val="78716C"/>
                </a:solidFill>
              </a:rPr>
              <a:t>lemmatiser</a:t>
            </a:r>
            <a:r>
              <a:rPr sz="2000" dirty="0">
                <a:solidFill>
                  <a:srgbClr val="78716C"/>
                </a:solidFill>
              </a:rPr>
              <a:t>, lexicon + HMM POS, spell correct, Roman-Urdu, TF-IDF (word + char), BM25, LSA, PPMI, Word2Vec, BPE, Kneser-Ney LM, WMD, PRF, 5-channel blender + chat UI + /playground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Member 2 </a:t>
            </a:r>
            <a:r>
              <a:rPr lang="en-US" sz="2000" b="1" dirty="0">
                <a:solidFill>
                  <a:srgbClr val="1C1717"/>
                </a:solidFill>
              </a:rPr>
              <a:t>, </a:t>
            </a:r>
            <a:r>
              <a:rPr sz="2000" b="1" dirty="0">
                <a:solidFill>
                  <a:srgbClr val="1C1717"/>
                </a:solidFill>
              </a:rPr>
              <a:t>Anas Bhatti (F23607044). Extraction + Classification NLP</a:t>
            </a:r>
            <a:r>
              <a:rPr sz="2000" dirty="0">
                <a:solidFill>
                  <a:srgbClr val="78716C"/>
                </a:solidFill>
              </a:rPr>
              <a:t>  Medical NER (</a:t>
            </a:r>
            <a:r>
              <a:rPr sz="2000" dirty="0" err="1">
                <a:solidFill>
                  <a:srgbClr val="78716C"/>
                </a:solidFill>
              </a:rPr>
              <a:t>dict</a:t>
            </a:r>
            <a:r>
              <a:rPr sz="2000" dirty="0">
                <a:solidFill>
                  <a:srgbClr val="78716C"/>
                </a:solidFill>
              </a:rPr>
              <a:t> + perceptron + linear-chain CRF), negation, sentiment, triage, question type, slot extractor, </a:t>
            </a:r>
            <a:r>
              <a:rPr sz="2000" dirty="0" err="1">
                <a:solidFill>
                  <a:srgbClr val="78716C"/>
                </a:solidFill>
              </a:rPr>
              <a:t>TextRank</a:t>
            </a:r>
            <a:r>
              <a:rPr sz="2000" dirty="0">
                <a:solidFill>
                  <a:srgbClr val="78716C"/>
                </a:solidFill>
              </a:rPr>
              <a:t> keywords + summary, KG triples, Naive Bayes + MLP , /architecture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Member 3</a:t>
            </a:r>
            <a:r>
              <a:rPr lang="en-US" sz="2000" b="1" dirty="0">
                <a:solidFill>
                  <a:srgbClr val="1C1717"/>
                </a:solidFill>
              </a:rPr>
              <a:t>, </a:t>
            </a:r>
            <a:r>
              <a:rPr sz="2000" b="1" dirty="0">
                <a:solidFill>
                  <a:srgbClr val="1C1717"/>
                </a:solidFill>
              </a:rPr>
              <a:t>Muhammad Salman (F23607037). Generation + Dialog NLP</a:t>
            </a:r>
            <a:r>
              <a:rPr sz="2000" dirty="0">
                <a:solidFill>
                  <a:srgbClr val="78716C"/>
                </a:solidFill>
              </a:rPr>
              <a:t>   Seq2seq encoder-decoder with </a:t>
            </a:r>
            <a:r>
              <a:rPr sz="2000" dirty="0" err="1">
                <a:solidFill>
                  <a:srgbClr val="78716C"/>
                </a:solidFill>
              </a:rPr>
              <a:t>Bahdanau</a:t>
            </a:r>
            <a:r>
              <a:rPr sz="2000" dirty="0">
                <a:solidFill>
                  <a:srgbClr val="78716C"/>
                </a:solidFill>
              </a:rPr>
              <a:t> attention, grounded generator, MLP, dual encoder, K-Means, real-time auto-FAQ miner, dialog manager, MMR diversification, LTR </a:t>
            </a:r>
            <a:r>
              <a:rPr sz="2000" dirty="0" err="1">
                <a:solidFill>
                  <a:srgbClr val="78716C"/>
                </a:solidFill>
              </a:rPr>
              <a:t>reranker</a:t>
            </a:r>
            <a:r>
              <a:rPr sz="2000" dirty="0">
                <a:solidFill>
                  <a:srgbClr val="78716C"/>
                </a:solidFill>
              </a:rPr>
              <a:t>, coreference, live FAQ counters</a:t>
            </a:r>
          </a:p>
          <a:p>
            <a:pPr algn="l"/>
            <a:r>
              <a:rPr sz="2000" b="1" dirty="0">
                <a:solidFill>
                  <a:srgbClr val="1C1717"/>
                </a:solidFill>
              </a:rPr>
              <a:t>•  Member 4</a:t>
            </a:r>
            <a:r>
              <a:rPr lang="en-US" sz="2000" b="1" dirty="0">
                <a:solidFill>
                  <a:srgbClr val="1C1717"/>
                </a:solidFill>
              </a:rPr>
              <a:t>, Mahad Ali</a:t>
            </a:r>
            <a:r>
              <a:rPr sz="2000" b="1" dirty="0">
                <a:solidFill>
                  <a:srgbClr val="1C1717"/>
                </a:solidFill>
              </a:rPr>
              <a:t> Data + Eval + Deploy</a:t>
            </a:r>
            <a:r>
              <a:rPr sz="2000" dirty="0">
                <a:solidFill>
                  <a:srgbClr val="78716C"/>
                </a:solidFill>
              </a:rPr>
              <a:t>   214 hand-written FAQs, 6-way intent augmentation (1517 examples), 14,357 synthetic chat sessions, PHI scrub, offline mining pipeline, eval harness (P@1, MRR, Recall@5), 62-test integration suite, Docker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Live demo · how to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Single command brings the entire stack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</a:rPr>
              <a:t>docker compose up --build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13385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1C1717"/>
                </a:solidFill>
              </a:rPr>
              <a:t>•  http://localhost:3000/</a:t>
            </a:r>
            <a:r>
              <a:rPr sz="1300" dirty="0">
                <a:solidFill>
                  <a:srgbClr val="78716C"/>
                </a:solidFill>
              </a:rPr>
              <a:t>  — landing page · pick a specialty</a:t>
            </a:r>
          </a:p>
          <a:p>
            <a:pPr algn="l"/>
            <a:r>
              <a:rPr sz="1400" b="1" dirty="0">
                <a:solidFill>
                  <a:srgbClr val="1C1717"/>
                </a:solidFill>
              </a:rPr>
              <a:t>•  /chat/radiology</a:t>
            </a:r>
            <a:r>
              <a:rPr sz="1300" dirty="0">
                <a:solidFill>
                  <a:srgbClr val="78716C"/>
                </a:solidFill>
              </a:rPr>
              <a:t>  — full chatbot · NLP debug panel · voice input · reset / topic chip</a:t>
            </a:r>
          </a:p>
          <a:p>
            <a:pPr algn="l"/>
            <a:r>
              <a:rPr sz="1400" b="1" dirty="0">
                <a:solidFill>
                  <a:srgbClr val="1C1717"/>
                </a:solidFill>
              </a:rPr>
              <a:t>•  /playground</a:t>
            </a:r>
            <a:r>
              <a:rPr sz="1300" dirty="0">
                <a:solidFill>
                  <a:srgbClr val="78716C"/>
                </a:solidFill>
              </a:rPr>
              <a:t>  — type any sentence, see every NLP layer live</a:t>
            </a:r>
          </a:p>
          <a:p>
            <a:pPr algn="l"/>
            <a:r>
              <a:rPr sz="1400" b="1" dirty="0">
                <a:solidFill>
                  <a:srgbClr val="1C1717"/>
                </a:solidFill>
              </a:rPr>
              <a:t>•  /architecture</a:t>
            </a:r>
            <a:r>
              <a:rPr sz="1300" dirty="0">
                <a:solidFill>
                  <a:srgbClr val="78716C"/>
                </a:solidFill>
              </a:rPr>
              <a:t>  — system architecture diagram + technique table + metrics</a:t>
            </a:r>
          </a:p>
          <a:p>
            <a:pPr algn="l"/>
            <a:r>
              <a:rPr sz="1400" b="1" dirty="0">
                <a:solidFill>
                  <a:srgbClr val="1C1717"/>
                </a:solidFill>
              </a:rPr>
              <a:t>•  /admin</a:t>
            </a:r>
            <a:r>
              <a:rPr sz="1300" dirty="0">
                <a:solidFill>
                  <a:srgbClr val="78716C"/>
                </a:solidFill>
              </a:rPr>
              <a:t>  — live FAQ counts + chart-rich admin dashboard</a:t>
            </a:r>
          </a:p>
          <a:p>
            <a:pPr algn="l"/>
            <a:r>
              <a:rPr sz="1400" b="1" dirty="0">
                <a:solidFill>
                  <a:srgbClr val="1C1717"/>
                </a:solidFill>
              </a:rPr>
              <a:t>•  python api/final_test.py</a:t>
            </a:r>
            <a:r>
              <a:rPr sz="1300" dirty="0">
                <a:solidFill>
                  <a:srgbClr val="78716C"/>
                </a:solidFill>
              </a:rPr>
              <a:t>  — 62 / 62 integration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1107</Words>
  <Application>Microsoft Office PowerPoint</Application>
  <PresentationFormat>Custom</PresentationFormat>
  <Paragraphs>131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Abdul Ghani</cp:lastModifiedBy>
  <cp:revision>13</cp:revision>
  <dcterms:created xsi:type="dcterms:W3CDTF">2013-01-27T09:14:16Z</dcterms:created>
  <dcterms:modified xsi:type="dcterms:W3CDTF">2026-06-10T05:12:54Z</dcterms:modified>
  <cp:category/>
</cp:coreProperties>
</file>