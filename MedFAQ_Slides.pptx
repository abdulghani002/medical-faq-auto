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>
                <a:solidFill>
                  <a:srgbClr val="1C1717"/>
                </a:solidFill>
              </a:rPr>
              <a:t>MedFAQ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>
                <a:solidFill>
                  <a:srgbClr val="1C1717"/>
                </a:solidFill>
              </a:rPr>
              <a:t>Auto-Generated Medical FAQ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78716C"/>
                </a:solidFill>
              </a:rPr>
              <a:t>Retrieval-only chatbot · no LLM · every model built from scratch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Abdul Ghani · Anas Bhatti · Muhammad Salman · 2 teammates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NUTECH · 6th semester · github.com/AbdulGhani002/medical-faq-auto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Scope and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Problem · Patients ask the same questions every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Goal</a:t>
            </a:r>
            <a:r>
              <a:rPr sz="1400">
                <a:solidFill>
                  <a:srgbClr val="78716C"/>
                </a:solidFill>
              </a:rPr>
              <a:t>  — Retrieval chatbot that answers from an approved, clinician-reviewed FAQ index across three specialties.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Specialties</a:t>
            </a:r>
            <a:r>
              <a:rPr sz="1400">
                <a:solidFill>
                  <a:srgbClr val="78716C"/>
                </a:solidFill>
              </a:rPr>
              <a:t>  — Radiology · Physiotherapy · Cardiovascular.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Honesty</a:t>
            </a:r>
            <a:r>
              <a:rPr sz="1400">
                <a:solidFill>
                  <a:srgbClr val="78716C"/>
                </a:solidFill>
              </a:rPr>
              <a:t>  — Every reply is a real, human-written FAQ entry. No hallucination.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Hard constraint</a:t>
            </a:r>
            <a:r>
              <a:rPr sz="1400">
                <a:solidFill>
                  <a:srgbClr val="78716C"/>
                </a:solidFill>
              </a:rPr>
              <a:t>  — No LLM. No pretrained transformer. No sentence-transformers downloaded.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Hard constraint</a:t>
            </a:r>
            <a:r>
              <a:rPr sz="1400">
                <a:solidFill>
                  <a:srgbClr val="78716C"/>
                </a:solidFill>
              </a:rPr>
              <a:t>  — Every ML algorithm written by us (numpy or PyTorch tensors). ~3000 LoC.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Deploy</a:t>
            </a:r>
            <a:r>
              <a:rPr sz="1400">
                <a:solidFill>
                  <a:srgbClr val="78716C"/>
                </a:solidFill>
              </a:rPr>
              <a:t>  — Single `docker compose up` brings web + api + mongo live.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Pakistan context</a:t>
            </a:r>
            <a:r>
              <a:rPr sz="1400">
                <a:solidFill>
                  <a:srgbClr val="78716C"/>
                </a:solidFill>
              </a:rPr>
              <a:t>  — Roman-Urdu phonetic input · 1122 emergency banner · PHI scrub.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Runtime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Each user turn flows top-to-bottom in ~22 ms p50.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717"/>
                </a:solidFill>
              </a:rPr>
              <a:t>•  Preprocess</a:t>
            </a:r>
            <a:r>
              <a:rPr sz="1300">
                <a:solidFill>
                  <a:srgbClr val="78716C"/>
                </a:solidFill>
              </a:rPr>
              <a:t>  — PHI scrub → Roman-Urdu expand → coreference → context augment → spell-correct.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Understanding</a:t>
            </a:r>
            <a:r>
              <a:rPr sz="1300">
                <a:solidFill>
                  <a:srgbClr val="78716C"/>
                </a:solidFill>
              </a:rPr>
              <a:t>  — Tokeniser · POS (lexicon + HMM) · NER (dict + perceptron + CRF) · negation · sentiment · triage · intent (NB / MLP / Transformer).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Retrieve (5 channels)</a:t>
            </a:r>
            <a:r>
              <a:rPr sz="1300">
                <a:solidFill>
                  <a:srgbClr val="78716C"/>
                </a:solidFill>
              </a:rPr>
              <a:t>  — TF-IDF word 0.20 · TF-IDF char 0.45 · BM25 0.25 · LSA 0.05 · PPMI 0.05.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Rerank</a:t>
            </a:r>
            <a:r>
              <a:rPr sz="1300">
                <a:solidFill>
                  <a:srgbClr val="78716C"/>
                </a:solidFill>
              </a:rPr>
              <a:t>  — PRF (Rocchio) → LTR (LogReg, 14 features) → MMR diversify.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Dialog</a:t>
            </a:r>
            <a:r>
              <a:rPr sz="1300">
                <a:solidFill>
                  <a:srgbClr val="78716C"/>
                </a:solidFill>
              </a:rPr>
              <a:t>  — Empathic opener · triage banner · clarification · disambiguation card · stem-overlap highlight.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Reply</a:t>
            </a:r>
            <a:r>
              <a:rPr sz="1300">
                <a:solidFill>
                  <a:srgbClr val="78716C"/>
                </a:solidFill>
              </a:rPr>
              <a:t>  — answer + matched FAQ + score breakdown + NLP analysis + dialog meta.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Offline pipeline</a:t>
            </a:r>
            <a:r>
              <a:rPr sz="1300">
                <a:solidFill>
                  <a:srgbClr val="78716C"/>
                </a:solidFill>
              </a:rPr>
              <a:t>  — Chat-log → segment → normalise → embed (TF-IDF) → cluster (K-Means) → select → polish → publish.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All data lives in `data/*.jsonl`. Regenerated by `data/build_jsonl.py`.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77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Description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faqs.jsonl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Hand-written clinician-style FAQs (3 specialties)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intents.jsonl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Curated intent training, 13 classes incl. meta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intents_augmented.jsonl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6-way augmentation: synonyms / typos / prefixes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eval_queries.jsonl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Held-out queries with expected keywords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ner_examples.jsonl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BIO-tagged for CRF training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sentiment_lexicon.jsonl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Polarity weights + intensifiers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chat_logs.jsonl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Synthetic patient sessions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kg_triples.jsonl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Auto-mined (subject, predicate, object) triples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78716C"/>
                </a:solidFill>
              </a:rPr>
              <a:t>Counts persist live in MongoDB on every chat match → popular FAQs surface to the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1717"/>
                </a:solidFill>
              </a:rPr>
              <a:t>Models — every one trained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Classical numpy (myml/)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717"/>
                </a:solidFill>
              </a:rPr>
              <a:t>•  TF-IDF</a:t>
            </a:r>
            <a:r>
              <a:rPr sz="1000">
                <a:solidFill>
                  <a:srgbClr val="78716C"/>
                </a:solidFill>
              </a:rPr>
              <a:t>  — word + char n-grams, sublinear TF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BM25 Okapi</a:t>
            </a:r>
            <a:r>
              <a:rPr sz="1000">
                <a:solidFill>
                  <a:srgbClr val="78716C"/>
                </a:solidFill>
              </a:rPr>
              <a:t>  — Lucene-style smoothed IDF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Naive Bayes</a:t>
            </a:r>
            <a:r>
              <a:rPr sz="1000">
                <a:solidFill>
                  <a:srgbClr val="78716C"/>
                </a:solidFill>
              </a:rPr>
              <a:t>  — Laplace smoothing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Logistic Reg.</a:t>
            </a:r>
            <a:r>
              <a:rPr sz="1000">
                <a:solidFill>
                  <a:srgbClr val="78716C"/>
                </a:solidFill>
              </a:rPr>
              <a:t>  — batch GD + L2 + class weights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Randomised SVD</a:t>
            </a:r>
            <a:r>
              <a:rPr sz="1000">
                <a:solidFill>
                  <a:srgbClr val="78716C"/>
                </a:solidFill>
              </a:rPr>
              <a:t>  — Halko-Martinsson-Tropp 2011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K-Means</a:t>
            </a:r>
            <a:r>
              <a:rPr sz="1000">
                <a:solidFill>
                  <a:srgbClr val="78716C"/>
                </a:solidFill>
              </a:rPr>
              <a:t>  — k-means++ init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MLP + backprop</a:t>
            </a:r>
            <a:r>
              <a:rPr sz="1000">
                <a:solidFill>
                  <a:srgbClr val="78716C"/>
                </a:solidFill>
              </a:rPr>
              <a:t>  — ReLU/softmax, momentum SGD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CRF</a:t>
            </a:r>
            <a:r>
              <a:rPr sz="1000">
                <a:solidFill>
                  <a:srgbClr val="78716C"/>
                </a:solidFill>
              </a:rPr>
              <a:t>  — forward-backward + Viterbi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Word2Vec</a:t>
            </a:r>
            <a:r>
              <a:rPr sz="1000">
                <a:solidFill>
                  <a:srgbClr val="78716C"/>
                </a:solidFill>
              </a:rPr>
              <a:t>  — skip-gram + neg sampling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Dual encoder</a:t>
            </a:r>
            <a:r>
              <a:rPr sz="1000">
                <a:solidFill>
                  <a:srgbClr val="78716C"/>
                </a:solidFill>
              </a:rPr>
              <a:t>  — InfoNCE bi-encoder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BPE tokenizer</a:t>
            </a:r>
            <a:r>
              <a:rPr sz="1000">
                <a:solidFill>
                  <a:srgbClr val="78716C"/>
                </a:solidFill>
              </a:rPr>
              <a:t>  — Sennrich 2016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Trainable transformer (PyTorch, GPU)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717"/>
                </a:solidFill>
              </a:rPr>
              <a:t>•  Backend</a:t>
            </a:r>
            <a:r>
              <a:rPr sz="1000">
                <a:solidFill>
                  <a:srgbClr val="78716C"/>
                </a:solidFill>
              </a:rPr>
              <a:t>  — PyTorch tensors + autograd only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No pretrained weights</a:t>
            </a:r>
            <a:r>
              <a:rPr sz="1000">
                <a:solidFill>
                  <a:srgbClr val="78716C"/>
                </a:solidFill>
              </a:rPr>
              <a:t>  — every layer written by us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Arch.</a:t>
            </a:r>
            <a:r>
              <a:rPr sz="1000">
                <a:solidFill>
                  <a:srgbClr val="78716C"/>
                </a:solidFill>
              </a:rPr>
              <a:t>  — 2 encoder blocks · 4 heads · d=64 · d_ff=128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Embedding</a:t>
            </a:r>
            <a:r>
              <a:rPr sz="1000">
                <a:solidFill>
                  <a:srgbClr val="78716C"/>
                </a:solidFill>
              </a:rPr>
              <a:t>  — vocab-id → 64-d + sinusoidal pos enc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Attention</a:t>
            </a:r>
            <a:r>
              <a:rPr sz="1000">
                <a:solidFill>
                  <a:srgbClr val="78716C"/>
                </a:solidFill>
              </a:rPr>
              <a:t>  — scaled dot-product · multi-head · pre-LN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Pool / head</a:t>
            </a:r>
            <a:r>
              <a:rPr sz="1000">
                <a:solidFill>
                  <a:srgbClr val="78716C"/>
                </a:solidFill>
              </a:rPr>
              <a:t>  — masked mean-pool → softmax(13 classes)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Training data</a:t>
            </a:r>
            <a:r>
              <a:rPr sz="1000">
                <a:solidFill>
                  <a:srgbClr val="78716C"/>
                </a:solidFill>
              </a:rPr>
              <a:t>  — 1206 augmented intent examples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Optimiser</a:t>
            </a:r>
            <a:r>
              <a:rPr sz="1000">
                <a:solidFill>
                  <a:srgbClr val="78716C"/>
                </a:solidFill>
              </a:rPr>
              <a:t>  — AdamW + cosine LR + grad clip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Hardware</a:t>
            </a:r>
            <a:r>
              <a:rPr sz="1000">
                <a:solidFill>
                  <a:srgbClr val="78716C"/>
                </a:solidFill>
              </a:rPr>
              <a:t>  — Auto-detects CUDA; CPU fallback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Result</a:t>
            </a:r>
            <a:r>
              <a:rPr sz="1000">
                <a:solidFill>
                  <a:srgbClr val="78716C"/>
                </a:solidFill>
              </a:rPr>
              <a:t>  — train acc 1.000, loss 0.0003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Endpoint</a:t>
            </a:r>
            <a:r>
              <a:rPr sz="1000">
                <a:solidFill>
                  <a:srgbClr val="78716C"/>
                </a:solidFill>
              </a:rPr>
              <a:t>  — POST /nlp/torch_intent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Retrieval evaluated on 116 held-out queries; transformer on training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3657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Value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Precision@1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0.931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0.938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0.948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Median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22 ms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47 ms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80560" y="178308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Specialty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P@1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Radiology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0.870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Physiotherapy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Cardiovascular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Transformer intent classifier:  train accuracy 1.000 · final CE loss 0.0003 over 40 epochs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Integration suite (api/final_test.py):  62 / 62 PASS  — covers chat, faq, admin, stats, nlp, frontend routes.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Live FAQ counters verified end-to-end:  counts start at 0, increment per match, persist in Mongo.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No LLM dependency</a:t>
            </a:r>
            <a:r>
              <a:rPr sz="1400">
                <a:solidFill>
                  <a:srgbClr val="78716C"/>
                </a:solidFill>
              </a:rPr>
              <a:t>  — reproducible, auditable, no API costs, no hallucinations.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Every algorithm is ours</a:t>
            </a:r>
            <a:r>
              <a:rPr sz="1400">
                <a:solidFill>
                  <a:srgbClr val="78716C"/>
                </a:solidFill>
              </a:rPr>
              <a:t>  — drop-in replacements for sklearn, rank_bm25 and sentence-transformers.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Hybrid retrieval works</a:t>
            </a:r>
            <a:r>
              <a:rPr sz="1400">
                <a:solidFill>
                  <a:srgbClr val="78716C"/>
                </a:solidFill>
              </a:rPr>
              <a:t>  — P@1 0.93 across 116 held-out queries at 22 ms p50.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Multi-turn dialog</a:t>
            </a:r>
            <a:r>
              <a:rPr sz="1400">
                <a:solidFill>
                  <a:srgbClr val="78716C"/>
                </a:solidFill>
              </a:rPr>
              <a:t>  — coreference, slot filling, topic tracking, triage banner, empathic openers, disambiguation.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Pakistan-friendly</a:t>
            </a:r>
            <a:r>
              <a:rPr sz="1400">
                <a:solidFill>
                  <a:srgbClr val="78716C"/>
                </a:solidFill>
              </a:rPr>
              <a:t>  — Roman-Urdu phonetic mapping, 1122 emergency wording, PHI scrub at ingest.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One-command deploy</a:t>
            </a:r>
            <a:r>
              <a:rPr sz="1400">
                <a:solidFill>
                  <a:srgbClr val="78716C"/>
                </a:solidFill>
              </a:rPr>
              <a:t>  — docker compose up auto-seeds Mongo, builds API + Next.js.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Real-time analytics</a:t>
            </a:r>
            <a:r>
              <a:rPr sz="1400">
                <a:solidFill>
                  <a:srgbClr val="78716C"/>
                </a:solidFill>
              </a:rPr>
              <a:t>  — FAQ count increments live, persisted in Mongo, surfaced in /admin.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Trainable transformer</a:t>
            </a:r>
            <a:r>
              <a:rPr sz="1400">
                <a:solidFill>
                  <a:srgbClr val="78716C"/>
                </a:solidFill>
              </a:rPr>
              <a:t>  — GPU-ready PyTorch model trained from scratch on our own corpus.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Small corpus</a:t>
            </a:r>
            <a:r>
              <a:rPr sz="1400">
                <a:solidFill>
                  <a:srgbClr val="78716C"/>
                </a:solidFill>
              </a:rPr>
              <a:t>  — 169 FAQs cover the most common questions but out-of-distribution queries fall through to best-guess.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Eval is approximate</a:t>
            </a:r>
            <a:r>
              <a:rPr sz="1400">
                <a:solidFill>
                  <a:srgbClr val="78716C"/>
                </a:solidFill>
              </a:rPr>
              <a:t>  — expected-keyword match in the answer can mark a correct FAQ as wrong when phrasing diverges.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Transformer overfits</a:t>
            </a:r>
            <a:r>
              <a:rPr sz="1400">
                <a:solidFill>
                  <a:srgbClr val="78716C"/>
                </a:solidFill>
              </a:rPr>
              <a:t>  — trained on 1206 augmented examples; held-out test of the classifier itself is still small.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NER is dictionary-first</a:t>
            </a:r>
            <a:r>
              <a:rPr sz="1400">
                <a:solidFill>
                  <a:srgbClr val="78716C"/>
                </a:solidFill>
              </a:rPr>
              <a:t>  — the CRF + structured perceptron variants improve coverage but training data is only 32 hand-annotated sentences.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Roman-Urdu is heuristic</a:t>
            </a:r>
            <a:r>
              <a:rPr sz="1400">
                <a:solidFill>
                  <a:srgbClr val="78716C"/>
                </a:solidFill>
              </a:rPr>
              <a:t>  — ~80-word dictionary catches common cases; full transliteration would need a real parallel corpus.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Voice input is browser-native</a:t>
            </a:r>
            <a:r>
              <a:rPr sz="1400">
                <a:solidFill>
                  <a:srgbClr val="78716C"/>
                </a:solidFill>
              </a:rPr>
              <a:t>  — Web Speech API works in Chrome / Edge only.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Counts are at-most-once per turn</a:t>
            </a:r>
            <a:r>
              <a:rPr sz="1400">
                <a:solidFill>
                  <a:srgbClr val="78716C"/>
                </a:solidFill>
              </a:rPr>
              <a:t>  — no fraud / abuse heuristic — every successful match increments.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Future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Grow the corpus</a:t>
            </a:r>
            <a:r>
              <a:rPr sz="1400">
                <a:solidFill>
                  <a:srgbClr val="78716C"/>
                </a:solidFill>
              </a:rPr>
              <a:t>  — 500+ FAQs across more specialties with clinician validation.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Bi-encoder upgrade</a:t>
            </a:r>
            <a:r>
              <a:rPr sz="1400">
                <a:solidFill>
                  <a:srgbClr val="78716C"/>
                </a:solidFill>
              </a:rPr>
              <a:t>  — train the dual encoder on real clinician-rated query–FAQ pairs, not just keyword-derived positives.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Active learning loop</a:t>
            </a:r>
            <a:r>
              <a:rPr sz="1400">
                <a:solidFill>
                  <a:srgbClr val="78716C"/>
                </a:solidFill>
              </a:rPr>
              <a:t>  — low-confidence turns get queued for clinician review; approved Q/A pairs feed back into the corpus.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Real Urdu</a:t>
            </a:r>
            <a:r>
              <a:rPr sz="1400">
                <a:solidFill>
                  <a:srgbClr val="78716C"/>
                </a:solidFill>
              </a:rPr>
              <a:t>  — deeper transliteration trained on a parallel corpus; voice input in Urdu.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Clinical eval</a:t>
            </a:r>
            <a:r>
              <a:rPr sz="1400">
                <a:solidFill>
                  <a:srgbClr val="78716C"/>
                </a:solidFill>
              </a:rPr>
              <a:t>  — NDCG with clinician-rated relevance instead of a keyword heuristic.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GPU service</a:t>
            </a:r>
            <a:r>
              <a:rPr sz="1400">
                <a:solidFill>
                  <a:srgbClr val="78716C"/>
                </a:solidFill>
              </a:rPr>
              <a:t>  — dedicated container with CUDA wheel for heavier neural extensions.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Audit + governance</a:t>
            </a:r>
            <a:r>
              <a:rPr sz="1400">
                <a:solidFill>
                  <a:srgbClr val="78716C"/>
                </a:solidFill>
              </a:rPr>
              <a:t>  — version-controlled FAQ approval workflow, rollback, change-log.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Live demo · how to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Single command brings the entire stack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</a:rPr>
              <a:t>docker compose up --build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1338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717"/>
                </a:solidFill>
              </a:rPr>
              <a:t>•  http://localhost:3000/</a:t>
            </a:r>
            <a:r>
              <a:rPr sz="1300">
                <a:solidFill>
                  <a:srgbClr val="78716C"/>
                </a:solidFill>
              </a:rPr>
              <a:t>  — landing page · pick a specialty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/chat/radiology</a:t>
            </a:r>
            <a:r>
              <a:rPr sz="1300">
                <a:solidFill>
                  <a:srgbClr val="78716C"/>
                </a:solidFill>
              </a:rPr>
              <a:t>  — full chatbot · NLP debug panel · voice input · reset / topic chip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/playground</a:t>
            </a:r>
            <a:r>
              <a:rPr sz="1300">
                <a:solidFill>
                  <a:srgbClr val="78716C"/>
                </a:solidFill>
              </a:rPr>
              <a:t>  — type any sentence, see every NLP layer live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/architecture</a:t>
            </a:r>
            <a:r>
              <a:rPr sz="1300">
                <a:solidFill>
                  <a:srgbClr val="78716C"/>
                </a:solidFill>
              </a:rPr>
              <a:t>  — system architecture diagram + technique table + metrics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/admin</a:t>
            </a:r>
            <a:r>
              <a:rPr sz="1300">
                <a:solidFill>
                  <a:srgbClr val="78716C"/>
                </a:solidFill>
              </a:rPr>
              <a:t>  — live FAQ counts + chart-rich admin dashboard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api/train_transformer.py --verbose</a:t>
            </a:r>
            <a:r>
              <a:rPr sz="1300">
                <a:solidFill>
                  <a:srgbClr val="78716C"/>
                </a:solidFill>
              </a:rPr>
              <a:t>  — train the from-scratch transformer (GPU auto-detected)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api/eval.py</a:t>
            </a:r>
            <a:r>
              <a:rPr sz="1300">
                <a:solidFill>
                  <a:srgbClr val="78716C"/>
                </a:solidFill>
              </a:rPr>
              <a:t>  — regenerate EVALUATION_REPORT.md from 116 held-out queries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api/final_test.py</a:t>
            </a:r>
            <a:r>
              <a:rPr sz="1300">
                <a:solidFill>
                  <a:srgbClr val="78716C"/>
                </a:solidFill>
              </a:rPr>
              <a:t>  — 62 / 62 integration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